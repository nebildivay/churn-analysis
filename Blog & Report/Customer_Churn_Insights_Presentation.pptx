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0702E4-F06E-4295-A57C-0B7A7B207AD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15D4A88-A1F3-4C53-AEDB-F9DEDB38DE81}">
      <dgm:prSet/>
      <dgm:spPr/>
      <dgm:t>
        <a:bodyPr/>
        <a:lstStyle/>
        <a:p>
          <a:r>
            <a:rPr lang="en-US" dirty="0"/>
            <a:t>Gender: ~50/50 distribution</a:t>
          </a:r>
        </a:p>
      </dgm:t>
    </dgm:pt>
    <dgm:pt modelId="{048FFEE7-96FF-4048-8F15-540ECD8C5E2C}" type="parTrans" cxnId="{2A832B83-725D-4BA1-9E72-382E92250499}">
      <dgm:prSet/>
      <dgm:spPr/>
      <dgm:t>
        <a:bodyPr/>
        <a:lstStyle/>
        <a:p>
          <a:endParaRPr lang="en-US"/>
        </a:p>
      </dgm:t>
    </dgm:pt>
    <dgm:pt modelId="{38B9B58E-3D15-4716-8BE1-912D2AA870E2}" type="sibTrans" cxnId="{2A832B83-725D-4BA1-9E72-382E92250499}">
      <dgm:prSet/>
      <dgm:spPr/>
      <dgm:t>
        <a:bodyPr/>
        <a:lstStyle/>
        <a:p>
          <a:endParaRPr lang="en-US"/>
        </a:p>
      </dgm:t>
    </dgm:pt>
    <dgm:pt modelId="{88927361-98AB-4017-AACC-84FE4D1F0E70}">
      <dgm:prSet/>
      <dgm:spPr/>
      <dgm:t>
        <a:bodyPr/>
        <a:lstStyle/>
        <a:p>
          <a:r>
            <a:rPr lang="en-US" dirty="0"/>
            <a:t>Age: median ~40</a:t>
          </a:r>
        </a:p>
      </dgm:t>
    </dgm:pt>
    <dgm:pt modelId="{FF39878F-3DC8-488C-9CD0-6760E6180E77}" type="parTrans" cxnId="{EF561153-E774-4318-B473-AEBFBA8FC687}">
      <dgm:prSet/>
      <dgm:spPr/>
      <dgm:t>
        <a:bodyPr/>
        <a:lstStyle/>
        <a:p>
          <a:endParaRPr lang="en-US"/>
        </a:p>
      </dgm:t>
    </dgm:pt>
    <dgm:pt modelId="{25C4C03A-B89A-4CA1-B8E0-7A8BDB8EBC09}" type="sibTrans" cxnId="{EF561153-E774-4318-B473-AEBFBA8FC687}">
      <dgm:prSet/>
      <dgm:spPr/>
      <dgm:t>
        <a:bodyPr/>
        <a:lstStyle/>
        <a:p>
          <a:endParaRPr lang="en-US"/>
        </a:p>
      </dgm:t>
    </dgm:pt>
    <dgm:pt modelId="{2DBEF643-2371-4C17-99FE-8E4691DD9DDE}">
      <dgm:prSet/>
      <dgm:spPr/>
      <dgm:t>
        <a:bodyPr/>
        <a:lstStyle/>
        <a:p>
          <a:r>
            <a:rPr lang="en-US" dirty="0"/>
            <a:t>Tenure: Avg 29 months, many short-tenure customers</a:t>
          </a:r>
        </a:p>
      </dgm:t>
    </dgm:pt>
    <dgm:pt modelId="{B3DE4DF2-B29B-44F5-AEBA-E905CA5CDAD9}" type="parTrans" cxnId="{651D9DDB-0CB5-4DD1-BC13-82B4018EBC91}">
      <dgm:prSet/>
      <dgm:spPr/>
      <dgm:t>
        <a:bodyPr/>
        <a:lstStyle/>
        <a:p>
          <a:endParaRPr lang="en-US"/>
        </a:p>
      </dgm:t>
    </dgm:pt>
    <dgm:pt modelId="{6292BE69-1131-43BF-B007-4FA6C78F1441}" type="sibTrans" cxnId="{651D9DDB-0CB5-4DD1-BC13-82B4018EBC91}">
      <dgm:prSet/>
      <dgm:spPr/>
      <dgm:t>
        <a:bodyPr/>
        <a:lstStyle/>
        <a:p>
          <a:endParaRPr lang="en-US"/>
        </a:p>
      </dgm:t>
    </dgm:pt>
    <dgm:pt modelId="{DBD05FA8-32FB-485C-B672-62E6E2ADE14D}" type="pres">
      <dgm:prSet presAssocID="{A30702E4-F06E-4295-A57C-0B7A7B207ADD}" presName="linear" presStyleCnt="0">
        <dgm:presLayoutVars>
          <dgm:animLvl val="lvl"/>
          <dgm:resizeHandles val="exact"/>
        </dgm:presLayoutVars>
      </dgm:prSet>
      <dgm:spPr/>
    </dgm:pt>
    <dgm:pt modelId="{3851CA6A-DEEA-4F10-9D06-ACED777B3FC4}" type="pres">
      <dgm:prSet presAssocID="{A15D4A88-A1F3-4C53-AEDB-F9DEDB38DE8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3299A5F-FD72-41DA-B004-0F805EA12BA0}" type="pres">
      <dgm:prSet presAssocID="{38B9B58E-3D15-4716-8BE1-912D2AA870E2}" presName="spacer" presStyleCnt="0"/>
      <dgm:spPr/>
    </dgm:pt>
    <dgm:pt modelId="{A73B4134-9894-4D20-9113-07DA6BD0E917}" type="pres">
      <dgm:prSet presAssocID="{88927361-98AB-4017-AACC-84FE4D1F0E7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509F2CC-714F-4EA2-8DFA-8AC2B6C928FD}" type="pres">
      <dgm:prSet presAssocID="{25C4C03A-B89A-4CA1-B8E0-7A8BDB8EBC09}" presName="spacer" presStyleCnt="0"/>
      <dgm:spPr/>
    </dgm:pt>
    <dgm:pt modelId="{439EEC9E-0B08-40BE-A0A3-EFC80C3510A1}" type="pres">
      <dgm:prSet presAssocID="{2DBEF643-2371-4C17-99FE-8E4691DD9DD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D2DBD07-6296-4A82-86D1-597A344FAF89}" type="presOf" srcId="{A30702E4-F06E-4295-A57C-0B7A7B207ADD}" destId="{DBD05FA8-32FB-485C-B672-62E6E2ADE14D}" srcOrd="0" destOrd="0" presId="urn:microsoft.com/office/officeart/2005/8/layout/vList2"/>
    <dgm:cxn modelId="{BCA0B22B-5633-4D55-A6C6-FC3C5032C6AB}" type="presOf" srcId="{88927361-98AB-4017-AACC-84FE4D1F0E70}" destId="{A73B4134-9894-4D20-9113-07DA6BD0E917}" srcOrd="0" destOrd="0" presId="urn:microsoft.com/office/officeart/2005/8/layout/vList2"/>
    <dgm:cxn modelId="{AEA10F70-F491-4924-B0BF-CF4D010FA9FA}" type="presOf" srcId="{A15D4A88-A1F3-4C53-AEDB-F9DEDB38DE81}" destId="{3851CA6A-DEEA-4F10-9D06-ACED777B3FC4}" srcOrd="0" destOrd="0" presId="urn:microsoft.com/office/officeart/2005/8/layout/vList2"/>
    <dgm:cxn modelId="{EF561153-E774-4318-B473-AEBFBA8FC687}" srcId="{A30702E4-F06E-4295-A57C-0B7A7B207ADD}" destId="{88927361-98AB-4017-AACC-84FE4D1F0E70}" srcOrd="1" destOrd="0" parTransId="{FF39878F-3DC8-488C-9CD0-6760E6180E77}" sibTransId="{25C4C03A-B89A-4CA1-B8E0-7A8BDB8EBC09}"/>
    <dgm:cxn modelId="{2A832B83-725D-4BA1-9E72-382E92250499}" srcId="{A30702E4-F06E-4295-A57C-0B7A7B207ADD}" destId="{A15D4A88-A1F3-4C53-AEDB-F9DEDB38DE81}" srcOrd="0" destOrd="0" parTransId="{048FFEE7-96FF-4048-8F15-540ECD8C5E2C}" sibTransId="{38B9B58E-3D15-4716-8BE1-912D2AA870E2}"/>
    <dgm:cxn modelId="{E1E69EC8-0FA8-4706-BE3C-A59B77810EFE}" type="presOf" srcId="{2DBEF643-2371-4C17-99FE-8E4691DD9DDE}" destId="{439EEC9E-0B08-40BE-A0A3-EFC80C3510A1}" srcOrd="0" destOrd="0" presId="urn:microsoft.com/office/officeart/2005/8/layout/vList2"/>
    <dgm:cxn modelId="{651D9DDB-0CB5-4DD1-BC13-82B4018EBC91}" srcId="{A30702E4-F06E-4295-A57C-0B7A7B207ADD}" destId="{2DBEF643-2371-4C17-99FE-8E4691DD9DDE}" srcOrd="2" destOrd="0" parTransId="{B3DE4DF2-B29B-44F5-AEBA-E905CA5CDAD9}" sibTransId="{6292BE69-1131-43BF-B007-4FA6C78F1441}"/>
    <dgm:cxn modelId="{33617CFA-4D76-461F-956D-3A5084A64E66}" type="presParOf" srcId="{DBD05FA8-32FB-485C-B672-62E6E2ADE14D}" destId="{3851CA6A-DEEA-4F10-9D06-ACED777B3FC4}" srcOrd="0" destOrd="0" presId="urn:microsoft.com/office/officeart/2005/8/layout/vList2"/>
    <dgm:cxn modelId="{AEBD834B-2A1F-4D22-B471-C225D9311D99}" type="presParOf" srcId="{DBD05FA8-32FB-485C-B672-62E6E2ADE14D}" destId="{03299A5F-FD72-41DA-B004-0F805EA12BA0}" srcOrd="1" destOrd="0" presId="urn:microsoft.com/office/officeart/2005/8/layout/vList2"/>
    <dgm:cxn modelId="{9D698500-56E1-44BE-B2B4-3F7B0EA64AD8}" type="presParOf" srcId="{DBD05FA8-32FB-485C-B672-62E6E2ADE14D}" destId="{A73B4134-9894-4D20-9113-07DA6BD0E917}" srcOrd="2" destOrd="0" presId="urn:microsoft.com/office/officeart/2005/8/layout/vList2"/>
    <dgm:cxn modelId="{041ED035-8FD2-4190-A81F-CCC3C403A44D}" type="presParOf" srcId="{DBD05FA8-32FB-485C-B672-62E6E2ADE14D}" destId="{5509F2CC-714F-4EA2-8DFA-8AC2B6C928FD}" srcOrd="3" destOrd="0" presId="urn:microsoft.com/office/officeart/2005/8/layout/vList2"/>
    <dgm:cxn modelId="{D8AD9E8C-A859-4953-9886-3CA2289F61F1}" type="presParOf" srcId="{DBD05FA8-32FB-485C-B672-62E6E2ADE14D}" destId="{439EEC9E-0B08-40BE-A0A3-EFC80C3510A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941967F-011C-4A88-B279-A71370270A5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9F2AADD-A29D-474E-A4A2-850AC93A8A33}">
      <dgm:prSet/>
      <dgm:spPr/>
      <dgm:t>
        <a:bodyPr/>
        <a:lstStyle/>
        <a:p>
          <a:r>
            <a:rPr lang="en-US"/>
            <a:t>• 78% subscribed to Internet services</a:t>
          </a:r>
        </a:p>
      </dgm:t>
    </dgm:pt>
    <dgm:pt modelId="{0BFFC061-B671-4841-B663-7BD365C95F79}" type="parTrans" cxnId="{E2AE6BC7-1DC2-42FF-971F-C328E18A2A30}">
      <dgm:prSet/>
      <dgm:spPr/>
      <dgm:t>
        <a:bodyPr/>
        <a:lstStyle/>
        <a:p>
          <a:endParaRPr lang="en-US"/>
        </a:p>
      </dgm:t>
    </dgm:pt>
    <dgm:pt modelId="{DDC256C9-DA7C-4FFA-9E57-5797DC5C1553}" type="sibTrans" cxnId="{E2AE6BC7-1DC2-42FF-971F-C328E18A2A30}">
      <dgm:prSet/>
      <dgm:spPr/>
      <dgm:t>
        <a:bodyPr/>
        <a:lstStyle/>
        <a:p>
          <a:endParaRPr lang="en-US"/>
        </a:p>
      </dgm:t>
    </dgm:pt>
    <dgm:pt modelId="{0937495A-DE21-470B-AD7C-9415FFB7E0B7}">
      <dgm:prSet/>
      <dgm:spPr/>
      <dgm:t>
        <a:bodyPr/>
        <a:lstStyle/>
        <a:p>
          <a:r>
            <a:rPr lang="en-US"/>
            <a:t>• Fiber Optic dominates at 55%, DSL 30%, Cable 15%</a:t>
          </a:r>
        </a:p>
      </dgm:t>
    </dgm:pt>
    <dgm:pt modelId="{381E07CD-04C7-4CD3-B207-133B667CE101}" type="parTrans" cxnId="{4342CBC0-5463-40B6-9C91-99FCC5D38CE1}">
      <dgm:prSet/>
      <dgm:spPr/>
      <dgm:t>
        <a:bodyPr/>
        <a:lstStyle/>
        <a:p>
          <a:endParaRPr lang="en-US"/>
        </a:p>
      </dgm:t>
    </dgm:pt>
    <dgm:pt modelId="{8BC95583-9A27-4BBF-9087-9EC8BA6A374D}" type="sibTrans" cxnId="{4342CBC0-5463-40B6-9C91-99FCC5D38CE1}">
      <dgm:prSet/>
      <dgm:spPr/>
      <dgm:t>
        <a:bodyPr/>
        <a:lstStyle/>
        <a:p>
          <a:endParaRPr lang="en-US"/>
        </a:p>
      </dgm:t>
    </dgm:pt>
    <dgm:pt modelId="{EFC125FB-6730-4604-98E2-10A7925296B1}">
      <dgm:prSet/>
      <dgm:spPr/>
      <dgm:t>
        <a:bodyPr/>
        <a:lstStyle/>
        <a:p>
          <a:r>
            <a:rPr lang="en-US"/>
            <a:t>• 69% use phone service; 31% have multiple lines</a:t>
          </a:r>
        </a:p>
      </dgm:t>
    </dgm:pt>
    <dgm:pt modelId="{A09781E2-73DE-4DEE-AD84-19D2B08FAC40}" type="parTrans" cxnId="{F1578403-6360-4B81-91CB-703AFBE39F7B}">
      <dgm:prSet/>
      <dgm:spPr/>
      <dgm:t>
        <a:bodyPr/>
        <a:lstStyle/>
        <a:p>
          <a:endParaRPr lang="en-US"/>
        </a:p>
      </dgm:t>
    </dgm:pt>
    <dgm:pt modelId="{EC134EAB-DDA3-4DC9-9314-8B62BDC48CE4}" type="sibTrans" cxnId="{F1578403-6360-4B81-91CB-703AFBE39F7B}">
      <dgm:prSet/>
      <dgm:spPr/>
      <dgm:t>
        <a:bodyPr/>
        <a:lstStyle/>
        <a:p>
          <a:endParaRPr lang="en-US"/>
        </a:p>
      </dgm:t>
    </dgm:pt>
    <dgm:pt modelId="{7B385A80-6940-470D-8C00-076F0F34275E}" type="pres">
      <dgm:prSet presAssocID="{3941967F-011C-4A88-B279-A71370270A57}" presName="root" presStyleCnt="0">
        <dgm:presLayoutVars>
          <dgm:dir/>
          <dgm:resizeHandles val="exact"/>
        </dgm:presLayoutVars>
      </dgm:prSet>
      <dgm:spPr/>
    </dgm:pt>
    <dgm:pt modelId="{3C0198AD-705F-4A6F-9A2E-A12083B76B15}" type="pres">
      <dgm:prSet presAssocID="{39F2AADD-A29D-474E-A4A2-850AC93A8A33}" presName="compNode" presStyleCnt="0"/>
      <dgm:spPr/>
    </dgm:pt>
    <dgm:pt modelId="{DB68E02B-A601-4E4B-9BED-F9D3EBD32972}" type="pres">
      <dgm:prSet presAssocID="{39F2AADD-A29D-474E-A4A2-850AC93A8A33}" presName="bgRect" presStyleLbl="bgShp" presStyleIdx="0" presStyleCnt="3"/>
      <dgm:spPr/>
    </dgm:pt>
    <dgm:pt modelId="{8371F22E-837A-4CDD-84AD-F62C40241185}" type="pres">
      <dgm:prSet presAssocID="{39F2AADD-A29D-474E-A4A2-850AC93A8A3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DC5019C6-720E-4B82-8B0C-B28C1767EE1D}" type="pres">
      <dgm:prSet presAssocID="{39F2AADD-A29D-474E-A4A2-850AC93A8A33}" presName="spaceRect" presStyleCnt="0"/>
      <dgm:spPr/>
    </dgm:pt>
    <dgm:pt modelId="{3721D41A-622D-45EC-80DA-586157A7F9D6}" type="pres">
      <dgm:prSet presAssocID="{39F2AADD-A29D-474E-A4A2-850AC93A8A33}" presName="parTx" presStyleLbl="revTx" presStyleIdx="0" presStyleCnt="3">
        <dgm:presLayoutVars>
          <dgm:chMax val="0"/>
          <dgm:chPref val="0"/>
        </dgm:presLayoutVars>
      </dgm:prSet>
      <dgm:spPr/>
    </dgm:pt>
    <dgm:pt modelId="{5BAE6999-402C-4592-A41E-7B853759A613}" type="pres">
      <dgm:prSet presAssocID="{DDC256C9-DA7C-4FFA-9E57-5797DC5C1553}" presName="sibTrans" presStyleCnt="0"/>
      <dgm:spPr/>
    </dgm:pt>
    <dgm:pt modelId="{F19F7BBD-2DB6-498F-9528-477A17BE9373}" type="pres">
      <dgm:prSet presAssocID="{0937495A-DE21-470B-AD7C-9415FFB7E0B7}" presName="compNode" presStyleCnt="0"/>
      <dgm:spPr/>
    </dgm:pt>
    <dgm:pt modelId="{78458F07-F7B4-41BB-A6B3-D52FE84C2E3D}" type="pres">
      <dgm:prSet presAssocID="{0937495A-DE21-470B-AD7C-9415FFB7E0B7}" presName="bgRect" presStyleLbl="bgShp" presStyleIdx="1" presStyleCnt="3"/>
      <dgm:spPr/>
    </dgm:pt>
    <dgm:pt modelId="{1072B498-76E9-4479-9F1E-6965C20550A6}" type="pres">
      <dgm:prSet presAssocID="{0937495A-DE21-470B-AD7C-9415FFB7E0B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lasses"/>
        </a:ext>
      </dgm:extLst>
    </dgm:pt>
    <dgm:pt modelId="{DCB9F19E-5F34-4408-9874-FD3D8A6937BB}" type="pres">
      <dgm:prSet presAssocID="{0937495A-DE21-470B-AD7C-9415FFB7E0B7}" presName="spaceRect" presStyleCnt="0"/>
      <dgm:spPr/>
    </dgm:pt>
    <dgm:pt modelId="{D7F8344D-2BD4-4C0D-8E02-1BFB7341653E}" type="pres">
      <dgm:prSet presAssocID="{0937495A-DE21-470B-AD7C-9415FFB7E0B7}" presName="parTx" presStyleLbl="revTx" presStyleIdx="1" presStyleCnt="3">
        <dgm:presLayoutVars>
          <dgm:chMax val="0"/>
          <dgm:chPref val="0"/>
        </dgm:presLayoutVars>
      </dgm:prSet>
      <dgm:spPr/>
    </dgm:pt>
    <dgm:pt modelId="{8AA8D36A-CD11-4093-B52B-EFB0F78ADFF7}" type="pres">
      <dgm:prSet presAssocID="{8BC95583-9A27-4BBF-9087-9EC8BA6A374D}" presName="sibTrans" presStyleCnt="0"/>
      <dgm:spPr/>
    </dgm:pt>
    <dgm:pt modelId="{C4C47C53-DA8F-4A1D-BFBB-BA087B481FCE}" type="pres">
      <dgm:prSet presAssocID="{EFC125FB-6730-4604-98E2-10A7925296B1}" presName="compNode" presStyleCnt="0"/>
      <dgm:spPr/>
    </dgm:pt>
    <dgm:pt modelId="{8D2CD78A-E58F-42BC-A030-782543E73B9D}" type="pres">
      <dgm:prSet presAssocID="{EFC125FB-6730-4604-98E2-10A7925296B1}" presName="bgRect" presStyleLbl="bgShp" presStyleIdx="2" presStyleCnt="3"/>
      <dgm:spPr/>
    </dgm:pt>
    <dgm:pt modelId="{40EC6E3A-F945-448D-ADD1-60B5B35ED3CC}" type="pres">
      <dgm:prSet presAssocID="{EFC125FB-6730-4604-98E2-10A7925296B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2FBF028C-1A6D-40B3-AE4D-266BCE69481A}" type="pres">
      <dgm:prSet presAssocID="{EFC125FB-6730-4604-98E2-10A7925296B1}" presName="spaceRect" presStyleCnt="0"/>
      <dgm:spPr/>
    </dgm:pt>
    <dgm:pt modelId="{A869B84B-BA58-4D8A-91CF-A49F6BBFAF71}" type="pres">
      <dgm:prSet presAssocID="{EFC125FB-6730-4604-98E2-10A7925296B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1578403-6360-4B81-91CB-703AFBE39F7B}" srcId="{3941967F-011C-4A88-B279-A71370270A57}" destId="{EFC125FB-6730-4604-98E2-10A7925296B1}" srcOrd="2" destOrd="0" parTransId="{A09781E2-73DE-4DEE-AD84-19D2B08FAC40}" sibTransId="{EC134EAB-DDA3-4DC9-9314-8B62BDC48CE4}"/>
    <dgm:cxn modelId="{F1DAB917-4031-43DD-B515-D2FE74EFF39F}" type="presOf" srcId="{39F2AADD-A29D-474E-A4A2-850AC93A8A33}" destId="{3721D41A-622D-45EC-80DA-586157A7F9D6}" srcOrd="0" destOrd="0" presId="urn:microsoft.com/office/officeart/2018/2/layout/IconVerticalSolidList"/>
    <dgm:cxn modelId="{935F4852-A08A-48A0-B115-585A883F9878}" type="presOf" srcId="{3941967F-011C-4A88-B279-A71370270A57}" destId="{7B385A80-6940-470D-8C00-076F0F34275E}" srcOrd="0" destOrd="0" presId="urn:microsoft.com/office/officeart/2018/2/layout/IconVerticalSolidList"/>
    <dgm:cxn modelId="{8A5EC083-A955-4123-A756-1238E106B3D8}" type="presOf" srcId="{EFC125FB-6730-4604-98E2-10A7925296B1}" destId="{A869B84B-BA58-4D8A-91CF-A49F6BBFAF71}" srcOrd="0" destOrd="0" presId="urn:microsoft.com/office/officeart/2018/2/layout/IconVerticalSolidList"/>
    <dgm:cxn modelId="{DD0DFFB1-52F9-4874-B75D-18EB68925F41}" type="presOf" srcId="{0937495A-DE21-470B-AD7C-9415FFB7E0B7}" destId="{D7F8344D-2BD4-4C0D-8E02-1BFB7341653E}" srcOrd="0" destOrd="0" presId="urn:microsoft.com/office/officeart/2018/2/layout/IconVerticalSolidList"/>
    <dgm:cxn modelId="{4342CBC0-5463-40B6-9C91-99FCC5D38CE1}" srcId="{3941967F-011C-4A88-B279-A71370270A57}" destId="{0937495A-DE21-470B-AD7C-9415FFB7E0B7}" srcOrd="1" destOrd="0" parTransId="{381E07CD-04C7-4CD3-B207-133B667CE101}" sibTransId="{8BC95583-9A27-4BBF-9087-9EC8BA6A374D}"/>
    <dgm:cxn modelId="{E2AE6BC7-1DC2-42FF-971F-C328E18A2A30}" srcId="{3941967F-011C-4A88-B279-A71370270A57}" destId="{39F2AADD-A29D-474E-A4A2-850AC93A8A33}" srcOrd="0" destOrd="0" parTransId="{0BFFC061-B671-4841-B663-7BD365C95F79}" sibTransId="{DDC256C9-DA7C-4FFA-9E57-5797DC5C1553}"/>
    <dgm:cxn modelId="{5086033E-7B3B-4D84-805D-1AF723EB2A87}" type="presParOf" srcId="{7B385A80-6940-470D-8C00-076F0F34275E}" destId="{3C0198AD-705F-4A6F-9A2E-A12083B76B15}" srcOrd="0" destOrd="0" presId="urn:microsoft.com/office/officeart/2018/2/layout/IconVerticalSolidList"/>
    <dgm:cxn modelId="{C2C26BBF-8A82-48E8-A965-3C1639887A2F}" type="presParOf" srcId="{3C0198AD-705F-4A6F-9A2E-A12083B76B15}" destId="{DB68E02B-A601-4E4B-9BED-F9D3EBD32972}" srcOrd="0" destOrd="0" presId="urn:microsoft.com/office/officeart/2018/2/layout/IconVerticalSolidList"/>
    <dgm:cxn modelId="{F3CFD54F-46A9-402D-B3F2-40436101E5D5}" type="presParOf" srcId="{3C0198AD-705F-4A6F-9A2E-A12083B76B15}" destId="{8371F22E-837A-4CDD-84AD-F62C40241185}" srcOrd="1" destOrd="0" presId="urn:microsoft.com/office/officeart/2018/2/layout/IconVerticalSolidList"/>
    <dgm:cxn modelId="{34F38A1A-25BA-45FF-A139-690FE19CB0F0}" type="presParOf" srcId="{3C0198AD-705F-4A6F-9A2E-A12083B76B15}" destId="{DC5019C6-720E-4B82-8B0C-B28C1767EE1D}" srcOrd="2" destOrd="0" presId="urn:microsoft.com/office/officeart/2018/2/layout/IconVerticalSolidList"/>
    <dgm:cxn modelId="{7B8926E6-0F9D-4A9A-83CE-5BF23320DB5C}" type="presParOf" srcId="{3C0198AD-705F-4A6F-9A2E-A12083B76B15}" destId="{3721D41A-622D-45EC-80DA-586157A7F9D6}" srcOrd="3" destOrd="0" presId="urn:microsoft.com/office/officeart/2018/2/layout/IconVerticalSolidList"/>
    <dgm:cxn modelId="{52143D29-F3F0-491A-B5CA-C2D9D59E61C7}" type="presParOf" srcId="{7B385A80-6940-470D-8C00-076F0F34275E}" destId="{5BAE6999-402C-4592-A41E-7B853759A613}" srcOrd="1" destOrd="0" presId="urn:microsoft.com/office/officeart/2018/2/layout/IconVerticalSolidList"/>
    <dgm:cxn modelId="{79B2CC53-55D8-4E3C-B1E5-2FA385D453E0}" type="presParOf" srcId="{7B385A80-6940-470D-8C00-076F0F34275E}" destId="{F19F7BBD-2DB6-498F-9528-477A17BE9373}" srcOrd="2" destOrd="0" presId="urn:microsoft.com/office/officeart/2018/2/layout/IconVerticalSolidList"/>
    <dgm:cxn modelId="{15556D6E-0799-44BF-9E05-B59B5086A3D7}" type="presParOf" srcId="{F19F7BBD-2DB6-498F-9528-477A17BE9373}" destId="{78458F07-F7B4-41BB-A6B3-D52FE84C2E3D}" srcOrd="0" destOrd="0" presId="urn:microsoft.com/office/officeart/2018/2/layout/IconVerticalSolidList"/>
    <dgm:cxn modelId="{7C18F767-9C71-4FC5-B1E1-E181E8F5D7BB}" type="presParOf" srcId="{F19F7BBD-2DB6-498F-9528-477A17BE9373}" destId="{1072B498-76E9-4479-9F1E-6965C20550A6}" srcOrd="1" destOrd="0" presId="urn:microsoft.com/office/officeart/2018/2/layout/IconVerticalSolidList"/>
    <dgm:cxn modelId="{39FB8B8D-41F2-4CC7-A997-E20D337C391C}" type="presParOf" srcId="{F19F7BBD-2DB6-498F-9528-477A17BE9373}" destId="{DCB9F19E-5F34-4408-9874-FD3D8A6937BB}" srcOrd="2" destOrd="0" presId="urn:microsoft.com/office/officeart/2018/2/layout/IconVerticalSolidList"/>
    <dgm:cxn modelId="{194F639B-7EE4-429C-B9FE-299E3164C254}" type="presParOf" srcId="{F19F7BBD-2DB6-498F-9528-477A17BE9373}" destId="{D7F8344D-2BD4-4C0D-8E02-1BFB7341653E}" srcOrd="3" destOrd="0" presId="urn:microsoft.com/office/officeart/2018/2/layout/IconVerticalSolidList"/>
    <dgm:cxn modelId="{7F6986E5-F657-42F4-8896-126539BEEA5A}" type="presParOf" srcId="{7B385A80-6940-470D-8C00-076F0F34275E}" destId="{8AA8D36A-CD11-4093-B52B-EFB0F78ADFF7}" srcOrd="3" destOrd="0" presId="urn:microsoft.com/office/officeart/2018/2/layout/IconVerticalSolidList"/>
    <dgm:cxn modelId="{3C96DF8E-97C7-4BAF-AED7-9FB8AB351AA6}" type="presParOf" srcId="{7B385A80-6940-470D-8C00-076F0F34275E}" destId="{C4C47C53-DA8F-4A1D-BFBB-BA087B481FCE}" srcOrd="4" destOrd="0" presId="urn:microsoft.com/office/officeart/2018/2/layout/IconVerticalSolidList"/>
    <dgm:cxn modelId="{3D93220D-A963-47EA-AAC3-3117831929BE}" type="presParOf" srcId="{C4C47C53-DA8F-4A1D-BFBB-BA087B481FCE}" destId="{8D2CD78A-E58F-42BC-A030-782543E73B9D}" srcOrd="0" destOrd="0" presId="urn:microsoft.com/office/officeart/2018/2/layout/IconVerticalSolidList"/>
    <dgm:cxn modelId="{0F9169B1-721D-445F-859A-F9853BDC04FA}" type="presParOf" srcId="{C4C47C53-DA8F-4A1D-BFBB-BA087B481FCE}" destId="{40EC6E3A-F945-448D-ADD1-60B5B35ED3CC}" srcOrd="1" destOrd="0" presId="urn:microsoft.com/office/officeart/2018/2/layout/IconVerticalSolidList"/>
    <dgm:cxn modelId="{5F31FF7D-E207-40CA-8471-7DEEB453EADF}" type="presParOf" srcId="{C4C47C53-DA8F-4A1D-BFBB-BA087B481FCE}" destId="{2FBF028C-1A6D-40B3-AE4D-266BCE69481A}" srcOrd="2" destOrd="0" presId="urn:microsoft.com/office/officeart/2018/2/layout/IconVerticalSolidList"/>
    <dgm:cxn modelId="{D0374593-DC73-4F13-AE04-1DCC10965F64}" type="presParOf" srcId="{C4C47C53-DA8F-4A1D-BFBB-BA087B481FCE}" destId="{A869B84B-BA58-4D8A-91CF-A49F6BBFAF7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98A9FBA-A932-4819-8639-FC6983AD610A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704B30D-37E1-468C-AA5E-08A5CA0E7790}">
      <dgm:prSet/>
      <dgm:spPr/>
      <dgm:t>
        <a:bodyPr/>
        <a:lstStyle/>
        <a:p>
          <a:r>
            <a:rPr lang="en-US"/>
            <a:t>• Month-to-month churn: 42%; 2-year contract churn: 5.1%</a:t>
          </a:r>
        </a:p>
      </dgm:t>
    </dgm:pt>
    <dgm:pt modelId="{010B749B-6352-4D54-8560-2929E70A48E6}" type="parTrans" cxnId="{719EC4C9-CB6B-441C-9748-D4EAC3DE85C8}">
      <dgm:prSet/>
      <dgm:spPr/>
      <dgm:t>
        <a:bodyPr/>
        <a:lstStyle/>
        <a:p>
          <a:endParaRPr lang="en-US"/>
        </a:p>
      </dgm:t>
    </dgm:pt>
    <dgm:pt modelId="{F38C96E0-F43C-4865-B008-AE01366B8480}" type="sibTrans" cxnId="{719EC4C9-CB6B-441C-9748-D4EAC3DE85C8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673EEDEC-53E5-4087-8AB8-C239A0B66370}">
      <dgm:prSet/>
      <dgm:spPr/>
      <dgm:t>
        <a:bodyPr/>
        <a:lstStyle/>
        <a:p>
          <a:r>
            <a:rPr lang="en-US"/>
            <a:t>• Electronic check churn: 45%; banking methods: 10–12%</a:t>
          </a:r>
        </a:p>
      </dgm:t>
    </dgm:pt>
    <dgm:pt modelId="{E9AC8C19-3BAF-4E64-9405-50F0C282A31E}" type="parTrans" cxnId="{484FDC96-B79F-42C1-B9C6-1D819DF0806C}">
      <dgm:prSet/>
      <dgm:spPr/>
      <dgm:t>
        <a:bodyPr/>
        <a:lstStyle/>
        <a:p>
          <a:endParaRPr lang="en-US"/>
        </a:p>
      </dgm:t>
    </dgm:pt>
    <dgm:pt modelId="{707FA4A6-A002-48F1-8461-737DE391589B}" type="sibTrans" cxnId="{484FDC96-B79F-42C1-B9C6-1D819DF0806C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3F073012-D51D-4EEA-9964-0484845941A3}">
      <dgm:prSet/>
      <dgm:spPr/>
      <dgm:t>
        <a:bodyPr/>
        <a:lstStyle/>
        <a:p>
          <a:r>
            <a:rPr lang="en-US"/>
            <a:t>• High correlation: Monthly Charge ↗ Total Revenue (r≈0.93)</a:t>
          </a:r>
        </a:p>
      </dgm:t>
    </dgm:pt>
    <dgm:pt modelId="{F9B19014-EFB7-4068-B4D5-BA3F66C5A7B9}" type="parTrans" cxnId="{8DF597AC-C58E-4260-ABD4-3B316D69F31A}">
      <dgm:prSet/>
      <dgm:spPr/>
      <dgm:t>
        <a:bodyPr/>
        <a:lstStyle/>
        <a:p>
          <a:endParaRPr lang="en-US"/>
        </a:p>
      </dgm:t>
    </dgm:pt>
    <dgm:pt modelId="{F76D3738-6A2F-4BBC-B1D6-1F2A0B47D561}" type="sibTrans" cxnId="{8DF597AC-C58E-4260-ABD4-3B316D69F31A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033EB18A-2E24-453E-A673-5A25DE544384}" type="pres">
      <dgm:prSet presAssocID="{F98A9FBA-A932-4819-8639-FC6983AD610A}" presName="Name0" presStyleCnt="0">
        <dgm:presLayoutVars>
          <dgm:animLvl val="lvl"/>
          <dgm:resizeHandles val="exact"/>
        </dgm:presLayoutVars>
      </dgm:prSet>
      <dgm:spPr/>
    </dgm:pt>
    <dgm:pt modelId="{17D43920-6554-4CEB-AB02-B6F0C15243BD}" type="pres">
      <dgm:prSet presAssocID="{4704B30D-37E1-468C-AA5E-08A5CA0E7790}" presName="compositeNode" presStyleCnt="0">
        <dgm:presLayoutVars>
          <dgm:bulletEnabled val="1"/>
        </dgm:presLayoutVars>
      </dgm:prSet>
      <dgm:spPr/>
    </dgm:pt>
    <dgm:pt modelId="{E96522B8-A4FF-4407-8ECB-88233028C1CC}" type="pres">
      <dgm:prSet presAssocID="{4704B30D-37E1-468C-AA5E-08A5CA0E7790}" presName="bgRect" presStyleLbl="bgAccFollowNode1" presStyleIdx="0" presStyleCnt="3"/>
      <dgm:spPr/>
    </dgm:pt>
    <dgm:pt modelId="{A1BBC9C2-71E1-4AA6-AD52-3A15F8880075}" type="pres">
      <dgm:prSet presAssocID="{F38C96E0-F43C-4865-B008-AE01366B8480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1F3CB692-699F-4C3C-9FF4-8925F7802969}" type="pres">
      <dgm:prSet presAssocID="{4704B30D-37E1-468C-AA5E-08A5CA0E7790}" presName="bottomLine" presStyleLbl="alignNode1" presStyleIdx="1" presStyleCnt="6">
        <dgm:presLayoutVars/>
      </dgm:prSet>
      <dgm:spPr/>
    </dgm:pt>
    <dgm:pt modelId="{25A8ACD0-2B05-4E04-9C28-3D5D56B6D951}" type="pres">
      <dgm:prSet presAssocID="{4704B30D-37E1-468C-AA5E-08A5CA0E7790}" presName="nodeText" presStyleLbl="bgAccFollowNode1" presStyleIdx="0" presStyleCnt="3">
        <dgm:presLayoutVars>
          <dgm:bulletEnabled val="1"/>
        </dgm:presLayoutVars>
      </dgm:prSet>
      <dgm:spPr/>
    </dgm:pt>
    <dgm:pt modelId="{439F2813-600E-40FD-AB73-9C10E2E6A96B}" type="pres">
      <dgm:prSet presAssocID="{F38C96E0-F43C-4865-B008-AE01366B8480}" presName="sibTrans" presStyleCnt="0"/>
      <dgm:spPr/>
    </dgm:pt>
    <dgm:pt modelId="{3D3CAD8E-51AB-4CD6-8BA0-7A3B8C1EE77D}" type="pres">
      <dgm:prSet presAssocID="{673EEDEC-53E5-4087-8AB8-C239A0B66370}" presName="compositeNode" presStyleCnt="0">
        <dgm:presLayoutVars>
          <dgm:bulletEnabled val="1"/>
        </dgm:presLayoutVars>
      </dgm:prSet>
      <dgm:spPr/>
    </dgm:pt>
    <dgm:pt modelId="{2A5D81AA-4240-4A8A-A9EC-8A7F6BC0C78F}" type="pres">
      <dgm:prSet presAssocID="{673EEDEC-53E5-4087-8AB8-C239A0B66370}" presName="bgRect" presStyleLbl="bgAccFollowNode1" presStyleIdx="1" presStyleCnt="3"/>
      <dgm:spPr/>
    </dgm:pt>
    <dgm:pt modelId="{2AEB1658-50A5-4AC2-8E3C-2311CA4EBAA2}" type="pres">
      <dgm:prSet presAssocID="{707FA4A6-A002-48F1-8461-737DE391589B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339E320B-A7E6-402B-8394-7D747D0945BF}" type="pres">
      <dgm:prSet presAssocID="{673EEDEC-53E5-4087-8AB8-C239A0B66370}" presName="bottomLine" presStyleLbl="alignNode1" presStyleIdx="3" presStyleCnt="6">
        <dgm:presLayoutVars/>
      </dgm:prSet>
      <dgm:spPr/>
    </dgm:pt>
    <dgm:pt modelId="{3CF33FCE-A8F1-4A6B-9B8D-CE5B9AA68F6E}" type="pres">
      <dgm:prSet presAssocID="{673EEDEC-53E5-4087-8AB8-C239A0B66370}" presName="nodeText" presStyleLbl="bgAccFollowNode1" presStyleIdx="1" presStyleCnt="3">
        <dgm:presLayoutVars>
          <dgm:bulletEnabled val="1"/>
        </dgm:presLayoutVars>
      </dgm:prSet>
      <dgm:spPr/>
    </dgm:pt>
    <dgm:pt modelId="{0F0018E7-FA5A-4625-8698-01927592B181}" type="pres">
      <dgm:prSet presAssocID="{707FA4A6-A002-48F1-8461-737DE391589B}" presName="sibTrans" presStyleCnt="0"/>
      <dgm:spPr/>
    </dgm:pt>
    <dgm:pt modelId="{5606E642-5D4F-45F6-8601-74D98E907572}" type="pres">
      <dgm:prSet presAssocID="{3F073012-D51D-4EEA-9964-0484845941A3}" presName="compositeNode" presStyleCnt="0">
        <dgm:presLayoutVars>
          <dgm:bulletEnabled val="1"/>
        </dgm:presLayoutVars>
      </dgm:prSet>
      <dgm:spPr/>
    </dgm:pt>
    <dgm:pt modelId="{FBECCFCB-2331-473B-804E-6C7A94471D9A}" type="pres">
      <dgm:prSet presAssocID="{3F073012-D51D-4EEA-9964-0484845941A3}" presName="bgRect" presStyleLbl="bgAccFollowNode1" presStyleIdx="2" presStyleCnt="3"/>
      <dgm:spPr/>
    </dgm:pt>
    <dgm:pt modelId="{8F8C41FC-2586-4339-9520-A5010EBAB0E6}" type="pres">
      <dgm:prSet presAssocID="{F76D3738-6A2F-4BBC-B1D6-1F2A0B47D561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58ED15CB-454A-46C0-9315-95A2502036B6}" type="pres">
      <dgm:prSet presAssocID="{3F073012-D51D-4EEA-9964-0484845941A3}" presName="bottomLine" presStyleLbl="alignNode1" presStyleIdx="5" presStyleCnt="6">
        <dgm:presLayoutVars/>
      </dgm:prSet>
      <dgm:spPr/>
    </dgm:pt>
    <dgm:pt modelId="{1FF4AFF0-401C-4A38-A1E0-869960E14F7B}" type="pres">
      <dgm:prSet presAssocID="{3F073012-D51D-4EEA-9964-0484845941A3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A1CF4C01-14F2-4891-AC19-424F2EF87E35}" type="presOf" srcId="{F38C96E0-F43C-4865-B008-AE01366B8480}" destId="{A1BBC9C2-71E1-4AA6-AD52-3A15F8880075}" srcOrd="0" destOrd="0" presId="urn:microsoft.com/office/officeart/2016/7/layout/BasicLinearProcessNumbered"/>
    <dgm:cxn modelId="{90916405-BEF0-477B-94DD-C2A8F68CE420}" type="presOf" srcId="{4704B30D-37E1-468C-AA5E-08A5CA0E7790}" destId="{25A8ACD0-2B05-4E04-9C28-3D5D56B6D951}" srcOrd="1" destOrd="0" presId="urn:microsoft.com/office/officeart/2016/7/layout/BasicLinearProcessNumbered"/>
    <dgm:cxn modelId="{F1EFCE17-0985-4DD7-B7A4-FA25667D840F}" type="presOf" srcId="{F98A9FBA-A932-4819-8639-FC6983AD610A}" destId="{033EB18A-2E24-453E-A673-5A25DE544384}" srcOrd="0" destOrd="0" presId="urn:microsoft.com/office/officeart/2016/7/layout/BasicLinearProcessNumbered"/>
    <dgm:cxn modelId="{4E1EE71B-F643-4CD5-9C1B-8D19E44756C5}" type="presOf" srcId="{3F073012-D51D-4EEA-9964-0484845941A3}" destId="{FBECCFCB-2331-473B-804E-6C7A94471D9A}" srcOrd="0" destOrd="0" presId="urn:microsoft.com/office/officeart/2016/7/layout/BasicLinearProcessNumbered"/>
    <dgm:cxn modelId="{5AD8AD31-C558-4095-9FC4-99A17E71B053}" type="presOf" srcId="{F76D3738-6A2F-4BBC-B1D6-1F2A0B47D561}" destId="{8F8C41FC-2586-4339-9520-A5010EBAB0E6}" srcOrd="0" destOrd="0" presId="urn:microsoft.com/office/officeart/2016/7/layout/BasicLinearProcessNumbered"/>
    <dgm:cxn modelId="{4187F832-9FA1-4BA9-854B-7F640A0C3B11}" type="presOf" srcId="{673EEDEC-53E5-4087-8AB8-C239A0B66370}" destId="{3CF33FCE-A8F1-4A6B-9B8D-CE5B9AA68F6E}" srcOrd="1" destOrd="0" presId="urn:microsoft.com/office/officeart/2016/7/layout/BasicLinearProcessNumbered"/>
    <dgm:cxn modelId="{AC0E4541-92A8-483E-867E-A2670D9451C2}" type="presOf" srcId="{4704B30D-37E1-468C-AA5E-08A5CA0E7790}" destId="{E96522B8-A4FF-4407-8ECB-88233028C1CC}" srcOrd="0" destOrd="0" presId="urn:microsoft.com/office/officeart/2016/7/layout/BasicLinearProcessNumbered"/>
    <dgm:cxn modelId="{42DE0D76-D0DC-4CF6-8D04-1EA25A1D6E87}" type="presOf" srcId="{673EEDEC-53E5-4087-8AB8-C239A0B66370}" destId="{2A5D81AA-4240-4A8A-A9EC-8A7F6BC0C78F}" srcOrd="0" destOrd="0" presId="urn:microsoft.com/office/officeart/2016/7/layout/BasicLinearProcessNumbered"/>
    <dgm:cxn modelId="{484FDC96-B79F-42C1-B9C6-1D819DF0806C}" srcId="{F98A9FBA-A932-4819-8639-FC6983AD610A}" destId="{673EEDEC-53E5-4087-8AB8-C239A0B66370}" srcOrd="1" destOrd="0" parTransId="{E9AC8C19-3BAF-4E64-9405-50F0C282A31E}" sibTransId="{707FA4A6-A002-48F1-8461-737DE391589B}"/>
    <dgm:cxn modelId="{01578A97-236A-4F31-955E-AD648D8E16C5}" type="presOf" srcId="{707FA4A6-A002-48F1-8461-737DE391589B}" destId="{2AEB1658-50A5-4AC2-8E3C-2311CA4EBAA2}" srcOrd="0" destOrd="0" presId="urn:microsoft.com/office/officeart/2016/7/layout/BasicLinearProcessNumbered"/>
    <dgm:cxn modelId="{8DF597AC-C58E-4260-ABD4-3B316D69F31A}" srcId="{F98A9FBA-A932-4819-8639-FC6983AD610A}" destId="{3F073012-D51D-4EEA-9964-0484845941A3}" srcOrd="2" destOrd="0" parTransId="{F9B19014-EFB7-4068-B4D5-BA3F66C5A7B9}" sibTransId="{F76D3738-6A2F-4BBC-B1D6-1F2A0B47D561}"/>
    <dgm:cxn modelId="{719EC4C9-CB6B-441C-9748-D4EAC3DE85C8}" srcId="{F98A9FBA-A932-4819-8639-FC6983AD610A}" destId="{4704B30D-37E1-468C-AA5E-08A5CA0E7790}" srcOrd="0" destOrd="0" parTransId="{010B749B-6352-4D54-8560-2929E70A48E6}" sibTransId="{F38C96E0-F43C-4865-B008-AE01366B8480}"/>
    <dgm:cxn modelId="{1C1AA3ED-9889-4B99-A1C6-938C0DA0B8DB}" type="presOf" srcId="{3F073012-D51D-4EEA-9964-0484845941A3}" destId="{1FF4AFF0-401C-4A38-A1E0-869960E14F7B}" srcOrd="1" destOrd="0" presId="urn:microsoft.com/office/officeart/2016/7/layout/BasicLinearProcessNumbered"/>
    <dgm:cxn modelId="{19B163BE-CDD3-4277-99CE-431C09258DED}" type="presParOf" srcId="{033EB18A-2E24-453E-A673-5A25DE544384}" destId="{17D43920-6554-4CEB-AB02-B6F0C15243BD}" srcOrd="0" destOrd="0" presId="urn:microsoft.com/office/officeart/2016/7/layout/BasicLinearProcessNumbered"/>
    <dgm:cxn modelId="{45206DDD-470C-4E7E-890A-D1B798D2E33D}" type="presParOf" srcId="{17D43920-6554-4CEB-AB02-B6F0C15243BD}" destId="{E96522B8-A4FF-4407-8ECB-88233028C1CC}" srcOrd="0" destOrd="0" presId="urn:microsoft.com/office/officeart/2016/7/layout/BasicLinearProcessNumbered"/>
    <dgm:cxn modelId="{A109F998-86E5-4C07-929B-055BBFCE1381}" type="presParOf" srcId="{17D43920-6554-4CEB-AB02-B6F0C15243BD}" destId="{A1BBC9C2-71E1-4AA6-AD52-3A15F8880075}" srcOrd="1" destOrd="0" presId="urn:microsoft.com/office/officeart/2016/7/layout/BasicLinearProcessNumbered"/>
    <dgm:cxn modelId="{03A9C8ED-62FB-4B9C-9C19-CA0FF007B910}" type="presParOf" srcId="{17D43920-6554-4CEB-AB02-B6F0C15243BD}" destId="{1F3CB692-699F-4C3C-9FF4-8925F7802969}" srcOrd="2" destOrd="0" presId="urn:microsoft.com/office/officeart/2016/7/layout/BasicLinearProcessNumbered"/>
    <dgm:cxn modelId="{65E9C418-5B60-4118-A7C2-FC564E182C31}" type="presParOf" srcId="{17D43920-6554-4CEB-AB02-B6F0C15243BD}" destId="{25A8ACD0-2B05-4E04-9C28-3D5D56B6D951}" srcOrd="3" destOrd="0" presId="urn:microsoft.com/office/officeart/2016/7/layout/BasicLinearProcessNumbered"/>
    <dgm:cxn modelId="{40CC43A8-DC4A-4404-9F62-97AD4C890AAD}" type="presParOf" srcId="{033EB18A-2E24-453E-A673-5A25DE544384}" destId="{439F2813-600E-40FD-AB73-9C10E2E6A96B}" srcOrd="1" destOrd="0" presId="urn:microsoft.com/office/officeart/2016/7/layout/BasicLinearProcessNumbered"/>
    <dgm:cxn modelId="{6CE415FA-D350-4665-8E02-B2DE07AFF21C}" type="presParOf" srcId="{033EB18A-2E24-453E-A673-5A25DE544384}" destId="{3D3CAD8E-51AB-4CD6-8BA0-7A3B8C1EE77D}" srcOrd="2" destOrd="0" presId="urn:microsoft.com/office/officeart/2016/7/layout/BasicLinearProcessNumbered"/>
    <dgm:cxn modelId="{46FC1AF1-51D2-46BE-B22B-193CF3379AD9}" type="presParOf" srcId="{3D3CAD8E-51AB-4CD6-8BA0-7A3B8C1EE77D}" destId="{2A5D81AA-4240-4A8A-A9EC-8A7F6BC0C78F}" srcOrd="0" destOrd="0" presId="urn:microsoft.com/office/officeart/2016/7/layout/BasicLinearProcessNumbered"/>
    <dgm:cxn modelId="{BFF9B4A1-117F-4A7F-9074-12F43347342C}" type="presParOf" srcId="{3D3CAD8E-51AB-4CD6-8BA0-7A3B8C1EE77D}" destId="{2AEB1658-50A5-4AC2-8E3C-2311CA4EBAA2}" srcOrd="1" destOrd="0" presId="urn:microsoft.com/office/officeart/2016/7/layout/BasicLinearProcessNumbered"/>
    <dgm:cxn modelId="{48ABBECB-8F0A-43AB-BC1A-73A139694A27}" type="presParOf" srcId="{3D3CAD8E-51AB-4CD6-8BA0-7A3B8C1EE77D}" destId="{339E320B-A7E6-402B-8394-7D747D0945BF}" srcOrd="2" destOrd="0" presId="urn:microsoft.com/office/officeart/2016/7/layout/BasicLinearProcessNumbered"/>
    <dgm:cxn modelId="{8F907E42-79C0-4FB4-BD8F-1138738EB830}" type="presParOf" srcId="{3D3CAD8E-51AB-4CD6-8BA0-7A3B8C1EE77D}" destId="{3CF33FCE-A8F1-4A6B-9B8D-CE5B9AA68F6E}" srcOrd="3" destOrd="0" presId="urn:microsoft.com/office/officeart/2016/7/layout/BasicLinearProcessNumbered"/>
    <dgm:cxn modelId="{CD4E7CE1-1A22-44C1-A854-355F0DFE97B6}" type="presParOf" srcId="{033EB18A-2E24-453E-A673-5A25DE544384}" destId="{0F0018E7-FA5A-4625-8698-01927592B181}" srcOrd="3" destOrd="0" presId="urn:microsoft.com/office/officeart/2016/7/layout/BasicLinearProcessNumbered"/>
    <dgm:cxn modelId="{E218A895-0F30-443B-9A0C-64AAFF0637C3}" type="presParOf" srcId="{033EB18A-2E24-453E-A673-5A25DE544384}" destId="{5606E642-5D4F-45F6-8601-74D98E907572}" srcOrd="4" destOrd="0" presId="urn:microsoft.com/office/officeart/2016/7/layout/BasicLinearProcessNumbered"/>
    <dgm:cxn modelId="{CBA8814B-C2A8-4EDC-93DC-5B939A3EA65F}" type="presParOf" srcId="{5606E642-5D4F-45F6-8601-74D98E907572}" destId="{FBECCFCB-2331-473B-804E-6C7A94471D9A}" srcOrd="0" destOrd="0" presId="urn:microsoft.com/office/officeart/2016/7/layout/BasicLinearProcessNumbered"/>
    <dgm:cxn modelId="{5ED08713-D4E0-4C7F-8B3F-B31FEA126E6D}" type="presParOf" srcId="{5606E642-5D4F-45F6-8601-74D98E907572}" destId="{8F8C41FC-2586-4339-9520-A5010EBAB0E6}" srcOrd="1" destOrd="0" presId="urn:microsoft.com/office/officeart/2016/7/layout/BasicLinearProcessNumbered"/>
    <dgm:cxn modelId="{AB8E90E9-6DAC-449B-BBE6-ADEAC1E02AF5}" type="presParOf" srcId="{5606E642-5D4F-45F6-8601-74D98E907572}" destId="{58ED15CB-454A-46C0-9315-95A2502036B6}" srcOrd="2" destOrd="0" presId="urn:microsoft.com/office/officeart/2016/7/layout/BasicLinearProcessNumbered"/>
    <dgm:cxn modelId="{1B81E7D1-4F65-447F-B5D2-280627A64E55}" type="presParOf" srcId="{5606E642-5D4F-45F6-8601-74D98E907572}" destId="{1FF4AFF0-401C-4A38-A1E0-869960E14F7B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19A5064-FAE2-408B-9E21-2549CD112E0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6EFC91C-8C73-492C-9969-23FE9CC763D0}">
      <dgm:prSet/>
      <dgm:spPr/>
      <dgm:t>
        <a:bodyPr/>
        <a:lstStyle/>
        <a:p>
          <a:pPr>
            <a:defRPr cap="all"/>
          </a:pPr>
          <a:r>
            <a:rPr lang="en-US"/>
            <a:t>• Build churn prediction model for real-time retention</a:t>
          </a:r>
        </a:p>
      </dgm:t>
    </dgm:pt>
    <dgm:pt modelId="{ECB80DDC-2855-4294-B9D6-C48833E5E065}" type="parTrans" cxnId="{C98822FB-3172-4670-96D3-01F43D275E9E}">
      <dgm:prSet/>
      <dgm:spPr/>
      <dgm:t>
        <a:bodyPr/>
        <a:lstStyle/>
        <a:p>
          <a:endParaRPr lang="en-US"/>
        </a:p>
      </dgm:t>
    </dgm:pt>
    <dgm:pt modelId="{8A2F58FD-41DF-4ACC-A440-B72960CB5792}" type="sibTrans" cxnId="{C98822FB-3172-4670-96D3-01F43D275E9E}">
      <dgm:prSet/>
      <dgm:spPr/>
      <dgm:t>
        <a:bodyPr/>
        <a:lstStyle/>
        <a:p>
          <a:endParaRPr lang="en-US"/>
        </a:p>
      </dgm:t>
    </dgm:pt>
    <dgm:pt modelId="{16007C33-C8F2-4882-BD0A-18B5DED7F437}">
      <dgm:prSet/>
      <dgm:spPr/>
      <dgm:t>
        <a:bodyPr/>
        <a:lstStyle/>
        <a:p>
          <a:pPr>
            <a:defRPr cap="all"/>
          </a:pPr>
          <a:r>
            <a:rPr lang="en-US"/>
            <a:t>• Track NPS &amp; satisfaction quarterly</a:t>
          </a:r>
        </a:p>
      </dgm:t>
    </dgm:pt>
    <dgm:pt modelId="{405B5035-C9C9-44AB-994B-A0871FB8323B}" type="parTrans" cxnId="{BA8A4C16-3018-4149-AE7C-36925F67073E}">
      <dgm:prSet/>
      <dgm:spPr/>
      <dgm:t>
        <a:bodyPr/>
        <a:lstStyle/>
        <a:p>
          <a:endParaRPr lang="en-US"/>
        </a:p>
      </dgm:t>
    </dgm:pt>
    <dgm:pt modelId="{946DAF0E-FE00-47CA-A2C0-E86B87097A48}" type="sibTrans" cxnId="{BA8A4C16-3018-4149-AE7C-36925F67073E}">
      <dgm:prSet/>
      <dgm:spPr/>
      <dgm:t>
        <a:bodyPr/>
        <a:lstStyle/>
        <a:p>
          <a:endParaRPr lang="en-US"/>
        </a:p>
      </dgm:t>
    </dgm:pt>
    <dgm:pt modelId="{C8BBBC6F-09C2-4BD1-A0DB-C192F329BD84}">
      <dgm:prSet/>
      <dgm:spPr/>
      <dgm:t>
        <a:bodyPr/>
        <a:lstStyle/>
        <a:p>
          <a:pPr>
            <a:defRPr cap="all"/>
          </a:pPr>
          <a:r>
            <a:rPr lang="en-US"/>
            <a:t>• Estimated churn reduction: 15–20%</a:t>
          </a:r>
        </a:p>
      </dgm:t>
    </dgm:pt>
    <dgm:pt modelId="{C6BF2D87-9BEF-4222-96AC-ACA6E0342684}" type="parTrans" cxnId="{C6C80238-96F1-43D3-9BF2-3A868241F08D}">
      <dgm:prSet/>
      <dgm:spPr/>
      <dgm:t>
        <a:bodyPr/>
        <a:lstStyle/>
        <a:p>
          <a:endParaRPr lang="en-US"/>
        </a:p>
      </dgm:t>
    </dgm:pt>
    <dgm:pt modelId="{16BFB138-D9AD-4D01-8CA3-B11683C35F5F}" type="sibTrans" cxnId="{C6C80238-96F1-43D3-9BF2-3A868241F08D}">
      <dgm:prSet/>
      <dgm:spPr/>
      <dgm:t>
        <a:bodyPr/>
        <a:lstStyle/>
        <a:p>
          <a:endParaRPr lang="en-US"/>
        </a:p>
      </dgm:t>
    </dgm:pt>
    <dgm:pt modelId="{B0462C31-5F11-4980-90DA-FA15200B4D0B}">
      <dgm:prSet/>
      <dgm:spPr/>
      <dgm:t>
        <a:bodyPr/>
        <a:lstStyle/>
        <a:p>
          <a:pPr>
            <a:defRPr cap="all"/>
          </a:pPr>
          <a:r>
            <a:rPr lang="en-US"/>
            <a:t>• Higher retention = significant revenue gain</a:t>
          </a:r>
        </a:p>
      </dgm:t>
    </dgm:pt>
    <dgm:pt modelId="{9A03E6E9-B143-4723-9534-A1D945479B98}" type="parTrans" cxnId="{B38278AD-E33B-4A0B-8167-C4340B8EED48}">
      <dgm:prSet/>
      <dgm:spPr/>
      <dgm:t>
        <a:bodyPr/>
        <a:lstStyle/>
        <a:p>
          <a:endParaRPr lang="en-US"/>
        </a:p>
      </dgm:t>
    </dgm:pt>
    <dgm:pt modelId="{4C3D0A23-001A-41B2-8424-658E75E66270}" type="sibTrans" cxnId="{B38278AD-E33B-4A0B-8167-C4340B8EED48}">
      <dgm:prSet/>
      <dgm:spPr/>
      <dgm:t>
        <a:bodyPr/>
        <a:lstStyle/>
        <a:p>
          <a:endParaRPr lang="en-US"/>
        </a:p>
      </dgm:t>
    </dgm:pt>
    <dgm:pt modelId="{ECF61B7B-2340-40CF-BBE2-8BB40A0571FC}" type="pres">
      <dgm:prSet presAssocID="{C19A5064-FAE2-408B-9E21-2549CD112E03}" presName="root" presStyleCnt="0">
        <dgm:presLayoutVars>
          <dgm:dir/>
          <dgm:resizeHandles val="exact"/>
        </dgm:presLayoutVars>
      </dgm:prSet>
      <dgm:spPr/>
    </dgm:pt>
    <dgm:pt modelId="{AE2916F4-D290-456F-A147-3227DAD78EB6}" type="pres">
      <dgm:prSet presAssocID="{76EFC91C-8C73-492C-9969-23FE9CC763D0}" presName="compNode" presStyleCnt="0"/>
      <dgm:spPr/>
    </dgm:pt>
    <dgm:pt modelId="{5D4190C6-436B-42FE-B979-4E7D8037E927}" type="pres">
      <dgm:prSet presAssocID="{76EFC91C-8C73-492C-9969-23FE9CC763D0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1ACA19F-D62F-497A-BE3E-226E270CF577}" type="pres">
      <dgm:prSet presAssocID="{76EFC91C-8C73-492C-9969-23FE9CC763D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C06658D-EF70-4E9F-8DF6-ACD6A97E9BC4}" type="pres">
      <dgm:prSet presAssocID="{76EFC91C-8C73-492C-9969-23FE9CC763D0}" presName="spaceRect" presStyleCnt="0"/>
      <dgm:spPr/>
    </dgm:pt>
    <dgm:pt modelId="{ED46EAD4-B8E0-4BD3-984E-BDB942EF5841}" type="pres">
      <dgm:prSet presAssocID="{76EFC91C-8C73-492C-9969-23FE9CC763D0}" presName="textRect" presStyleLbl="revTx" presStyleIdx="0" presStyleCnt="4">
        <dgm:presLayoutVars>
          <dgm:chMax val="1"/>
          <dgm:chPref val="1"/>
        </dgm:presLayoutVars>
      </dgm:prSet>
      <dgm:spPr/>
    </dgm:pt>
    <dgm:pt modelId="{71A1408A-E560-488A-B7B6-EC8B37D89569}" type="pres">
      <dgm:prSet presAssocID="{8A2F58FD-41DF-4ACC-A440-B72960CB5792}" presName="sibTrans" presStyleCnt="0"/>
      <dgm:spPr/>
    </dgm:pt>
    <dgm:pt modelId="{A51A3520-F190-4EBD-87F2-364A2BB8FA86}" type="pres">
      <dgm:prSet presAssocID="{16007C33-C8F2-4882-BD0A-18B5DED7F437}" presName="compNode" presStyleCnt="0"/>
      <dgm:spPr/>
    </dgm:pt>
    <dgm:pt modelId="{62C6BCD6-8656-4786-A8BB-0C65E900BBA1}" type="pres">
      <dgm:prSet presAssocID="{16007C33-C8F2-4882-BD0A-18B5DED7F437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B65A937-0B65-443E-AAEA-000918839489}" type="pres">
      <dgm:prSet presAssocID="{16007C33-C8F2-4882-BD0A-18B5DED7F43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659830F8-2836-4161-B1CC-39C34868F2B3}" type="pres">
      <dgm:prSet presAssocID="{16007C33-C8F2-4882-BD0A-18B5DED7F437}" presName="spaceRect" presStyleCnt="0"/>
      <dgm:spPr/>
    </dgm:pt>
    <dgm:pt modelId="{3AD1A3F4-494B-4860-AD81-86F26662C1BB}" type="pres">
      <dgm:prSet presAssocID="{16007C33-C8F2-4882-BD0A-18B5DED7F437}" presName="textRect" presStyleLbl="revTx" presStyleIdx="1" presStyleCnt="4">
        <dgm:presLayoutVars>
          <dgm:chMax val="1"/>
          <dgm:chPref val="1"/>
        </dgm:presLayoutVars>
      </dgm:prSet>
      <dgm:spPr/>
    </dgm:pt>
    <dgm:pt modelId="{9DD89F56-9B03-46CE-A605-57047518D60B}" type="pres">
      <dgm:prSet presAssocID="{946DAF0E-FE00-47CA-A2C0-E86B87097A48}" presName="sibTrans" presStyleCnt="0"/>
      <dgm:spPr/>
    </dgm:pt>
    <dgm:pt modelId="{4BC769BB-8B02-43F9-99EA-6D03CBBBB592}" type="pres">
      <dgm:prSet presAssocID="{C8BBBC6F-09C2-4BD1-A0DB-C192F329BD84}" presName="compNode" presStyleCnt="0"/>
      <dgm:spPr/>
    </dgm:pt>
    <dgm:pt modelId="{4D8B511E-E8CC-4D28-A7C8-54605F9F51C1}" type="pres">
      <dgm:prSet presAssocID="{C8BBBC6F-09C2-4BD1-A0DB-C192F329BD84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A66DDB0-120C-43FF-A5A1-78507EB30E80}" type="pres">
      <dgm:prSet presAssocID="{C8BBBC6F-09C2-4BD1-A0DB-C192F329BD8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9D03EE63-A53F-4FB2-BE67-A53C2820B8D4}" type="pres">
      <dgm:prSet presAssocID="{C8BBBC6F-09C2-4BD1-A0DB-C192F329BD84}" presName="spaceRect" presStyleCnt="0"/>
      <dgm:spPr/>
    </dgm:pt>
    <dgm:pt modelId="{42A599E2-D024-456B-B1D1-BFC8051EFB29}" type="pres">
      <dgm:prSet presAssocID="{C8BBBC6F-09C2-4BD1-A0DB-C192F329BD84}" presName="textRect" presStyleLbl="revTx" presStyleIdx="2" presStyleCnt="4">
        <dgm:presLayoutVars>
          <dgm:chMax val="1"/>
          <dgm:chPref val="1"/>
        </dgm:presLayoutVars>
      </dgm:prSet>
      <dgm:spPr/>
    </dgm:pt>
    <dgm:pt modelId="{6B8ACCF2-4FB3-40FD-A8EF-BE805EC5CA2E}" type="pres">
      <dgm:prSet presAssocID="{16BFB138-D9AD-4D01-8CA3-B11683C35F5F}" presName="sibTrans" presStyleCnt="0"/>
      <dgm:spPr/>
    </dgm:pt>
    <dgm:pt modelId="{37CA8B8C-0D74-4BA8-88C2-5982A6DA02F7}" type="pres">
      <dgm:prSet presAssocID="{B0462C31-5F11-4980-90DA-FA15200B4D0B}" presName="compNode" presStyleCnt="0"/>
      <dgm:spPr/>
    </dgm:pt>
    <dgm:pt modelId="{5F8F4945-2326-4972-B0E3-F93533A86795}" type="pres">
      <dgm:prSet presAssocID="{B0462C31-5F11-4980-90DA-FA15200B4D0B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AD526B3-41E0-4DBF-A602-4D795ECC581B}" type="pres">
      <dgm:prSet presAssocID="{B0462C31-5F11-4980-90DA-FA15200B4D0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97791783-D754-41EE-8E43-BF6500C90FB1}" type="pres">
      <dgm:prSet presAssocID="{B0462C31-5F11-4980-90DA-FA15200B4D0B}" presName="spaceRect" presStyleCnt="0"/>
      <dgm:spPr/>
    </dgm:pt>
    <dgm:pt modelId="{8F7A452A-A3AD-49B4-AAFD-0719B3EDE7C6}" type="pres">
      <dgm:prSet presAssocID="{B0462C31-5F11-4980-90DA-FA15200B4D0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A8A4C16-3018-4149-AE7C-36925F67073E}" srcId="{C19A5064-FAE2-408B-9E21-2549CD112E03}" destId="{16007C33-C8F2-4882-BD0A-18B5DED7F437}" srcOrd="1" destOrd="0" parTransId="{405B5035-C9C9-44AB-994B-A0871FB8323B}" sibTransId="{946DAF0E-FE00-47CA-A2C0-E86B87097A48}"/>
    <dgm:cxn modelId="{C6C80238-96F1-43D3-9BF2-3A868241F08D}" srcId="{C19A5064-FAE2-408B-9E21-2549CD112E03}" destId="{C8BBBC6F-09C2-4BD1-A0DB-C192F329BD84}" srcOrd="2" destOrd="0" parTransId="{C6BF2D87-9BEF-4222-96AC-ACA6E0342684}" sibTransId="{16BFB138-D9AD-4D01-8CA3-B11683C35F5F}"/>
    <dgm:cxn modelId="{B9CD694B-8919-41A3-B4B4-5777B8A635AB}" type="presOf" srcId="{76EFC91C-8C73-492C-9969-23FE9CC763D0}" destId="{ED46EAD4-B8E0-4BD3-984E-BDB942EF5841}" srcOrd="0" destOrd="0" presId="urn:microsoft.com/office/officeart/2018/5/layout/IconLeafLabelList"/>
    <dgm:cxn modelId="{EC74E995-B2A8-4505-B0AD-3A95302840A0}" type="presOf" srcId="{C8BBBC6F-09C2-4BD1-A0DB-C192F329BD84}" destId="{42A599E2-D024-456B-B1D1-BFC8051EFB29}" srcOrd="0" destOrd="0" presId="urn:microsoft.com/office/officeart/2018/5/layout/IconLeafLabelList"/>
    <dgm:cxn modelId="{A0939BA5-9BBB-46F4-9A2D-70BBB76913E2}" type="presOf" srcId="{C19A5064-FAE2-408B-9E21-2549CD112E03}" destId="{ECF61B7B-2340-40CF-BBE2-8BB40A0571FC}" srcOrd="0" destOrd="0" presId="urn:microsoft.com/office/officeart/2018/5/layout/IconLeafLabelList"/>
    <dgm:cxn modelId="{B38278AD-E33B-4A0B-8167-C4340B8EED48}" srcId="{C19A5064-FAE2-408B-9E21-2549CD112E03}" destId="{B0462C31-5F11-4980-90DA-FA15200B4D0B}" srcOrd="3" destOrd="0" parTransId="{9A03E6E9-B143-4723-9534-A1D945479B98}" sibTransId="{4C3D0A23-001A-41B2-8424-658E75E66270}"/>
    <dgm:cxn modelId="{A1267AAE-1D82-4415-BA35-4BA9C9763B0C}" type="presOf" srcId="{16007C33-C8F2-4882-BD0A-18B5DED7F437}" destId="{3AD1A3F4-494B-4860-AD81-86F26662C1BB}" srcOrd="0" destOrd="0" presId="urn:microsoft.com/office/officeart/2018/5/layout/IconLeafLabelList"/>
    <dgm:cxn modelId="{B65DEDEB-4A22-488E-8D0A-E4CE70ECF963}" type="presOf" srcId="{B0462C31-5F11-4980-90DA-FA15200B4D0B}" destId="{8F7A452A-A3AD-49B4-AAFD-0719B3EDE7C6}" srcOrd="0" destOrd="0" presId="urn:microsoft.com/office/officeart/2018/5/layout/IconLeafLabelList"/>
    <dgm:cxn modelId="{C98822FB-3172-4670-96D3-01F43D275E9E}" srcId="{C19A5064-FAE2-408B-9E21-2549CD112E03}" destId="{76EFC91C-8C73-492C-9969-23FE9CC763D0}" srcOrd="0" destOrd="0" parTransId="{ECB80DDC-2855-4294-B9D6-C48833E5E065}" sibTransId="{8A2F58FD-41DF-4ACC-A440-B72960CB5792}"/>
    <dgm:cxn modelId="{823A33CB-CCA5-4D34-874C-4C8C616D4FA8}" type="presParOf" srcId="{ECF61B7B-2340-40CF-BBE2-8BB40A0571FC}" destId="{AE2916F4-D290-456F-A147-3227DAD78EB6}" srcOrd="0" destOrd="0" presId="urn:microsoft.com/office/officeart/2018/5/layout/IconLeafLabelList"/>
    <dgm:cxn modelId="{FEA527C9-1A84-440A-A3E7-252C0FF7AF93}" type="presParOf" srcId="{AE2916F4-D290-456F-A147-3227DAD78EB6}" destId="{5D4190C6-436B-42FE-B979-4E7D8037E927}" srcOrd="0" destOrd="0" presId="urn:microsoft.com/office/officeart/2018/5/layout/IconLeafLabelList"/>
    <dgm:cxn modelId="{E58612DF-817C-49AA-97D8-486DAD2DB59F}" type="presParOf" srcId="{AE2916F4-D290-456F-A147-3227DAD78EB6}" destId="{11ACA19F-D62F-497A-BE3E-226E270CF577}" srcOrd="1" destOrd="0" presId="urn:microsoft.com/office/officeart/2018/5/layout/IconLeafLabelList"/>
    <dgm:cxn modelId="{5B85BB1E-6A70-4B54-96D4-42C87ACBCE35}" type="presParOf" srcId="{AE2916F4-D290-456F-A147-3227DAD78EB6}" destId="{2C06658D-EF70-4E9F-8DF6-ACD6A97E9BC4}" srcOrd="2" destOrd="0" presId="urn:microsoft.com/office/officeart/2018/5/layout/IconLeafLabelList"/>
    <dgm:cxn modelId="{07063EF4-F506-499F-B200-D5AE43FB210A}" type="presParOf" srcId="{AE2916F4-D290-456F-A147-3227DAD78EB6}" destId="{ED46EAD4-B8E0-4BD3-984E-BDB942EF5841}" srcOrd="3" destOrd="0" presId="urn:microsoft.com/office/officeart/2018/5/layout/IconLeafLabelList"/>
    <dgm:cxn modelId="{33C7507A-13AD-4018-A086-A5C5DE3583A5}" type="presParOf" srcId="{ECF61B7B-2340-40CF-BBE2-8BB40A0571FC}" destId="{71A1408A-E560-488A-B7B6-EC8B37D89569}" srcOrd="1" destOrd="0" presId="urn:microsoft.com/office/officeart/2018/5/layout/IconLeafLabelList"/>
    <dgm:cxn modelId="{F0BEBA8F-B8B0-4D77-A39F-F52580EEC29E}" type="presParOf" srcId="{ECF61B7B-2340-40CF-BBE2-8BB40A0571FC}" destId="{A51A3520-F190-4EBD-87F2-364A2BB8FA86}" srcOrd="2" destOrd="0" presId="urn:microsoft.com/office/officeart/2018/5/layout/IconLeafLabelList"/>
    <dgm:cxn modelId="{2B3EA510-E934-460C-8213-A01381C01AD6}" type="presParOf" srcId="{A51A3520-F190-4EBD-87F2-364A2BB8FA86}" destId="{62C6BCD6-8656-4786-A8BB-0C65E900BBA1}" srcOrd="0" destOrd="0" presId="urn:microsoft.com/office/officeart/2018/5/layout/IconLeafLabelList"/>
    <dgm:cxn modelId="{91061534-B48F-43A5-B9C0-E1B11843B4E4}" type="presParOf" srcId="{A51A3520-F190-4EBD-87F2-364A2BB8FA86}" destId="{8B65A937-0B65-443E-AAEA-000918839489}" srcOrd="1" destOrd="0" presId="urn:microsoft.com/office/officeart/2018/5/layout/IconLeafLabelList"/>
    <dgm:cxn modelId="{CD683B81-6563-4D0C-8241-A76C93D48757}" type="presParOf" srcId="{A51A3520-F190-4EBD-87F2-364A2BB8FA86}" destId="{659830F8-2836-4161-B1CC-39C34868F2B3}" srcOrd="2" destOrd="0" presId="urn:microsoft.com/office/officeart/2018/5/layout/IconLeafLabelList"/>
    <dgm:cxn modelId="{5E15BC07-345E-4072-AFFF-40F73B6F3699}" type="presParOf" srcId="{A51A3520-F190-4EBD-87F2-364A2BB8FA86}" destId="{3AD1A3F4-494B-4860-AD81-86F26662C1BB}" srcOrd="3" destOrd="0" presId="urn:microsoft.com/office/officeart/2018/5/layout/IconLeafLabelList"/>
    <dgm:cxn modelId="{4D2D8F46-126B-4363-84F8-B57988E8D086}" type="presParOf" srcId="{ECF61B7B-2340-40CF-BBE2-8BB40A0571FC}" destId="{9DD89F56-9B03-46CE-A605-57047518D60B}" srcOrd="3" destOrd="0" presId="urn:microsoft.com/office/officeart/2018/5/layout/IconLeafLabelList"/>
    <dgm:cxn modelId="{9BF1B997-AF1A-478E-95A6-37CFD8E75F0A}" type="presParOf" srcId="{ECF61B7B-2340-40CF-BBE2-8BB40A0571FC}" destId="{4BC769BB-8B02-43F9-99EA-6D03CBBBB592}" srcOrd="4" destOrd="0" presId="urn:microsoft.com/office/officeart/2018/5/layout/IconLeafLabelList"/>
    <dgm:cxn modelId="{BA9598ED-EDCD-465A-BCF8-6D549EADC5DB}" type="presParOf" srcId="{4BC769BB-8B02-43F9-99EA-6D03CBBBB592}" destId="{4D8B511E-E8CC-4D28-A7C8-54605F9F51C1}" srcOrd="0" destOrd="0" presId="urn:microsoft.com/office/officeart/2018/5/layout/IconLeafLabelList"/>
    <dgm:cxn modelId="{78EBCCA5-2529-4449-86D1-62DD1953AF05}" type="presParOf" srcId="{4BC769BB-8B02-43F9-99EA-6D03CBBBB592}" destId="{9A66DDB0-120C-43FF-A5A1-78507EB30E80}" srcOrd="1" destOrd="0" presId="urn:microsoft.com/office/officeart/2018/5/layout/IconLeafLabelList"/>
    <dgm:cxn modelId="{D8E7EA2F-BF52-4607-9B5F-0449DA962C13}" type="presParOf" srcId="{4BC769BB-8B02-43F9-99EA-6D03CBBBB592}" destId="{9D03EE63-A53F-4FB2-BE67-A53C2820B8D4}" srcOrd="2" destOrd="0" presId="urn:microsoft.com/office/officeart/2018/5/layout/IconLeafLabelList"/>
    <dgm:cxn modelId="{2D375112-D591-4153-BA5F-18B33C179E89}" type="presParOf" srcId="{4BC769BB-8B02-43F9-99EA-6D03CBBBB592}" destId="{42A599E2-D024-456B-B1D1-BFC8051EFB29}" srcOrd="3" destOrd="0" presId="urn:microsoft.com/office/officeart/2018/5/layout/IconLeafLabelList"/>
    <dgm:cxn modelId="{8EFF3D34-96C2-40D5-81F5-59C0668D8905}" type="presParOf" srcId="{ECF61B7B-2340-40CF-BBE2-8BB40A0571FC}" destId="{6B8ACCF2-4FB3-40FD-A8EF-BE805EC5CA2E}" srcOrd="5" destOrd="0" presId="urn:microsoft.com/office/officeart/2018/5/layout/IconLeafLabelList"/>
    <dgm:cxn modelId="{B820A7A6-7577-4979-AA03-97721B727C05}" type="presParOf" srcId="{ECF61B7B-2340-40CF-BBE2-8BB40A0571FC}" destId="{37CA8B8C-0D74-4BA8-88C2-5982A6DA02F7}" srcOrd="6" destOrd="0" presId="urn:microsoft.com/office/officeart/2018/5/layout/IconLeafLabelList"/>
    <dgm:cxn modelId="{8EDFCB45-3079-49BC-B54F-11768257F74A}" type="presParOf" srcId="{37CA8B8C-0D74-4BA8-88C2-5982A6DA02F7}" destId="{5F8F4945-2326-4972-B0E3-F93533A86795}" srcOrd="0" destOrd="0" presId="urn:microsoft.com/office/officeart/2018/5/layout/IconLeafLabelList"/>
    <dgm:cxn modelId="{E65D33ED-DFCA-4339-8425-A4C7810A4557}" type="presParOf" srcId="{37CA8B8C-0D74-4BA8-88C2-5982A6DA02F7}" destId="{3AD526B3-41E0-4DBF-A602-4D795ECC581B}" srcOrd="1" destOrd="0" presId="urn:microsoft.com/office/officeart/2018/5/layout/IconLeafLabelList"/>
    <dgm:cxn modelId="{EE3663B2-13AF-4740-9B38-8BA6CEA6D3C5}" type="presParOf" srcId="{37CA8B8C-0D74-4BA8-88C2-5982A6DA02F7}" destId="{97791783-D754-41EE-8E43-BF6500C90FB1}" srcOrd="2" destOrd="0" presId="urn:microsoft.com/office/officeart/2018/5/layout/IconLeafLabelList"/>
    <dgm:cxn modelId="{F7CBE40D-1686-41E1-BAA8-A024425CB64C}" type="presParOf" srcId="{37CA8B8C-0D74-4BA8-88C2-5982A6DA02F7}" destId="{8F7A452A-A3AD-49B4-AAFD-0719B3EDE7C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51CA6A-DEEA-4F10-9D06-ACED777B3FC4}">
      <dsp:nvSpPr>
        <dsp:cNvPr id="0" name=""/>
        <dsp:cNvSpPr/>
      </dsp:nvSpPr>
      <dsp:spPr>
        <a:xfrm>
          <a:off x="0" y="52331"/>
          <a:ext cx="4231481" cy="154600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Gender: ~50/50 distribution</a:t>
          </a:r>
        </a:p>
      </dsp:txBody>
      <dsp:txXfrm>
        <a:off x="75470" y="127801"/>
        <a:ext cx="4080541" cy="1395068"/>
      </dsp:txXfrm>
    </dsp:sp>
    <dsp:sp modelId="{A73B4134-9894-4D20-9113-07DA6BD0E917}">
      <dsp:nvSpPr>
        <dsp:cNvPr id="0" name=""/>
        <dsp:cNvSpPr/>
      </dsp:nvSpPr>
      <dsp:spPr>
        <a:xfrm>
          <a:off x="0" y="1687620"/>
          <a:ext cx="4231481" cy="1546008"/>
        </a:xfrm>
        <a:prstGeom prst="round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Age: median ~40</a:t>
          </a:r>
        </a:p>
      </dsp:txBody>
      <dsp:txXfrm>
        <a:off x="75470" y="1763090"/>
        <a:ext cx="4080541" cy="1395068"/>
      </dsp:txXfrm>
    </dsp:sp>
    <dsp:sp modelId="{439EEC9E-0B08-40BE-A0A3-EFC80C3510A1}">
      <dsp:nvSpPr>
        <dsp:cNvPr id="0" name=""/>
        <dsp:cNvSpPr/>
      </dsp:nvSpPr>
      <dsp:spPr>
        <a:xfrm>
          <a:off x="0" y="3322909"/>
          <a:ext cx="4231481" cy="1546008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Tenure: Avg 29 months, many short-tenure customers</a:t>
          </a:r>
        </a:p>
      </dsp:txBody>
      <dsp:txXfrm>
        <a:off x="75470" y="3398379"/>
        <a:ext cx="4080541" cy="13950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68E02B-A601-4E4B-9BED-F9D3EBD32972}">
      <dsp:nvSpPr>
        <dsp:cNvPr id="0" name=""/>
        <dsp:cNvSpPr/>
      </dsp:nvSpPr>
      <dsp:spPr>
        <a:xfrm>
          <a:off x="0" y="60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71F22E-837A-4CDD-84AD-F62C40241185}">
      <dsp:nvSpPr>
        <dsp:cNvPr id="0" name=""/>
        <dsp:cNvSpPr/>
      </dsp:nvSpPr>
      <dsp:spPr>
        <a:xfrm>
          <a:off x="425232" y="316889"/>
          <a:ext cx="773150" cy="7731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21D41A-622D-45EC-80DA-586157A7F9D6}">
      <dsp:nvSpPr>
        <dsp:cNvPr id="0" name=""/>
        <dsp:cNvSpPr/>
      </dsp:nvSpPr>
      <dsp:spPr>
        <a:xfrm>
          <a:off x="1623616" y="60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78% subscribed to Internet services</a:t>
          </a:r>
        </a:p>
      </dsp:txBody>
      <dsp:txXfrm>
        <a:off x="1623616" y="600"/>
        <a:ext cx="2607864" cy="1405728"/>
      </dsp:txXfrm>
    </dsp:sp>
    <dsp:sp modelId="{78458F07-F7B4-41BB-A6B3-D52FE84C2E3D}">
      <dsp:nvSpPr>
        <dsp:cNvPr id="0" name=""/>
        <dsp:cNvSpPr/>
      </dsp:nvSpPr>
      <dsp:spPr>
        <a:xfrm>
          <a:off x="0" y="175776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72B498-76E9-4479-9F1E-6965C20550A6}">
      <dsp:nvSpPr>
        <dsp:cNvPr id="0" name=""/>
        <dsp:cNvSpPr/>
      </dsp:nvSpPr>
      <dsp:spPr>
        <a:xfrm>
          <a:off x="425232" y="2074049"/>
          <a:ext cx="773150" cy="7731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F8344D-2BD4-4C0D-8E02-1BFB7341653E}">
      <dsp:nvSpPr>
        <dsp:cNvPr id="0" name=""/>
        <dsp:cNvSpPr/>
      </dsp:nvSpPr>
      <dsp:spPr>
        <a:xfrm>
          <a:off x="1623616" y="175776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Fiber Optic dominates at 55%, DSL 30%, Cable 15%</a:t>
          </a:r>
        </a:p>
      </dsp:txBody>
      <dsp:txXfrm>
        <a:off x="1623616" y="1757760"/>
        <a:ext cx="2607864" cy="1405728"/>
      </dsp:txXfrm>
    </dsp:sp>
    <dsp:sp modelId="{8D2CD78A-E58F-42BC-A030-782543E73B9D}">
      <dsp:nvSpPr>
        <dsp:cNvPr id="0" name=""/>
        <dsp:cNvSpPr/>
      </dsp:nvSpPr>
      <dsp:spPr>
        <a:xfrm>
          <a:off x="0" y="3514921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EC6E3A-F945-448D-ADD1-60B5B35ED3CC}">
      <dsp:nvSpPr>
        <dsp:cNvPr id="0" name=""/>
        <dsp:cNvSpPr/>
      </dsp:nvSpPr>
      <dsp:spPr>
        <a:xfrm>
          <a:off x="425232" y="3831209"/>
          <a:ext cx="773150" cy="7731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9B84B-BA58-4D8A-91CF-A49F6BBFAF71}">
      <dsp:nvSpPr>
        <dsp:cNvPr id="0" name=""/>
        <dsp:cNvSpPr/>
      </dsp:nvSpPr>
      <dsp:spPr>
        <a:xfrm>
          <a:off x="1623616" y="3514921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69% use phone service; 31% have multiple lines</a:t>
          </a:r>
        </a:p>
      </dsp:txBody>
      <dsp:txXfrm>
        <a:off x="1623616" y="3514921"/>
        <a:ext cx="2607864" cy="14057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6522B8-A4FF-4407-8ECB-88233028C1CC}">
      <dsp:nvSpPr>
        <dsp:cNvPr id="0" name=""/>
        <dsp:cNvSpPr/>
      </dsp:nvSpPr>
      <dsp:spPr>
        <a:xfrm>
          <a:off x="0" y="416631"/>
          <a:ext cx="2278186" cy="318946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616" tIns="330200" rIns="177616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Month-to-month churn: 42%; 2-year contract churn: 5.1%</a:t>
          </a:r>
        </a:p>
      </dsp:txBody>
      <dsp:txXfrm>
        <a:off x="0" y="1628627"/>
        <a:ext cx="2278186" cy="1913676"/>
      </dsp:txXfrm>
    </dsp:sp>
    <dsp:sp modelId="{A1BBC9C2-71E1-4AA6-AD52-3A15F8880075}">
      <dsp:nvSpPr>
        <dsp:cNvPr id="0" name=""/>
        <dsp:cNvSpPr/>
      </dsp:nvSpPr>
      <dsp:spPr>
        <a:xfrm>
          <a:off x="660674" y="735578"/>
          <a:ext cx="956838" cy="95683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599" tIns="12700" rIns="7459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00800" y="875704"/>
        <a:ext cx="676586" cy="676586"/>
      </dsp:txXfrm>
    </dsp:sp>
    <dsp:sp modelId="{1F3CB692-699F-4C3C-9FF4-8925F7802969}">
      <dsp:nvSpPr>
        <dsp:cNvPr id="0" name=""/>
        <dsp:cNvSpPr/>
      </dsp:nvSpPr>
      <dsp:spPr>
        <a:xfrm>
          <a:off x="0" y="3606021"/>
          <a:ext cx="2278186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5D81AA-4240-4A8A-A9EC-8A7F6BC0C78F}">
      <dsp:nvSpPr>
        <dsp:cNvPr id="0" name=""/>
        <dsp:cNvSpPr/>
      </dsp:nvSpPr>
      <dsp:spPr>
        <a:xfrm>
          <a:off x="2506005" y="416631"/>
          <a:ext cx="2278186" cy="3189461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616" tIns="330200" rIns="177616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Electronic check churn: 45%; banking methods: 10–12%</a:t>
          </a:r>
        </a:p>
      </dsp:txBody>
      <dsp:txXfrm>
        <a:off x="2506005" y="1628627"/>
        <a:ext cx="2278186" cy="1913676"/>
      </dsp:txXfrm>
    </dsp:sp>
    <dsp:sp modelId="{2AEB1658-50A5-4AC2-8E3C-2311CA4EBAA2}">
      <dsp:nvSpPr>
        <dsp:cNvPr id="0" name=""/>
        <dsp:cNvSpPr/>
      </dsp:nvSpPr>
      <dsp:spPr>
        <a:xfrm>
          <a:off x="3166679" y="735578"/>
          <a:ext cx="956838" cy="95683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599" tIns="12700" rIns="7459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306805" y="875704"/>
        <a:ext cx="676586" cy="676586"/>
      </dsp:txXfrm>
    </dsp:sp>
    <dsp:sp modelId="{339E320B-A7E6-402B-8394-7D747D0945BF}">
      <dsp:nvSpPr>
        <dsp:cNvPr id="0" name=""/>
        <dsp:cNvSpPr/>
      </dsp:nvSpPr>
      <dsp:spPr>
        <a:xfrm>
          <a:off x="2506005" y="3606021"/>
          <a:ext cx="2278186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ECCFCB-2331-473B-804E-6C7A94471D9A}">
      <dsp:nvSpPr>
        <dsp:cNvPr id="0" name=""/>
        <dsp:cNvSpPr/>
      </dsp:nvSpPr>
      <dsp:spPr>
        <a:xfrm>
          <a:off x="5012010" y="416631"/>
          <a:ext cx="2278186" cy="3189461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616" tIns="330200" rIns="177616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High correlation: Monthly Charge ↗ Total Revenue (r≈0.93)</a:t>
          </a:r>
        </a:p>
      </dsp:txBody>
      <dsp:txXfrm>
        <a:off x="5012010" y="1628627"/>
        <a:ext cx="2278186" cy="1913676"/>
      </dsp:txXfrm>
    </dsp:sp>
    <dsp:sp modelId="{8F8C41FC-2586-4339-9520-A5010EBAB0E6}">
      <dsp:nvSpPr>
        <dsp:cNvPr id="0" name=""/>
        <dsp:cNvSpPr/>
      </dsp:nvSpPr>
      <dsp:spPr>
        <a:xfrm>
          <a:off x="5672684" y="735578"/>
          <a:ext cx="956838" cy="95683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599" tIns="12700" rIns="7459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5812810" y="875704"/>
        <a:ext cx="676586" cy="676586"/>
      </dsp:txXfrm>
    </dsp:sp>
    <dsp:sp modelId="{58ED15CB-454A-46C0-9315-95A2502036B6}">
      <dsp:nvSpPr>
        <dsp:cNvPr id="0" name=""/>
        <dsp:cNvSpPr/>
      </dsp:nvSpPr>
      <dsp:spPr>
        <a:xfrm>
          <a:off x="5012010" y="3606021"/>
          <a:ext cx="2278186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4190C6-436B-42FE-B979-4E7D8037E927}">
      <dsp:nvSpPr>
        <dsp:cNvPr id="0" name=""/>
        <dsp:cNvSpPr/>
      </dsp:nvSpPr>
      <dsp:spPr>
        <a:xfrm>
          <a:off x="441424" y="5340"/>
          <a:ext cx="1144350" cy="11443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ACA19F-D62F-497A-BE3E-226E270CF577}">
      <dsp:nvSpPr>
        <dsp:cNvPr id="0" name=""/>
        <dsp:cNvSpPr/>
      </dsp:nvSpPr>
      <dsp:spPr>
        <a:xfrm>
          <a:off x="685302" y="249217"/>
          <a:ext cx="656594" cy="6565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46EAD4-B8E0-4BD3-984E-BDB942EF5841}">
      <dsp:nvSpPr>
        <dsp:cNvPr id="0" name=""/>
        <dsp:cNvSpPr/>
      </dsp:nvSpPr>
      <dsp:spPr>
        <a:xfrm>
          <a:off x="75608" y="1506127"/>
          <a:ext cx="18759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Build churn prediction model for real-time retention</a:t>
          </a:r>
        </a:p>
      </dsp:txBody>
      <dsp:txXfrm>
        <a:off x="75608" y="1506127"/>
        <a:ext cx="1875983" cy="720000"/>
      </dsp:txXfrm>
    </dsp:sp>
    <dsp:sp modelId="{62C6BCD6-8656-4786-A8BB-0C65E900BBA1}">
      <dsp:nvSpPr>
        <dsp:cNvPr id="0" name=""/>
        <dsp:cNvSpPr/>
      </dsp:nvSpPr>
      <dsp:spPr>
        <a:xfrm>
          <a:off x="2645705" y="5340"/>
          <a:ext cx="1144350" cy="11443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65A937-0B65-443E-AAEA-000918839489}">
      <dsp:nvSpPr>
        <dsp:cNvPr id="0" name=""/>
        <dsp:cNvSpPr/>
      </dsp:nvSpPr>
      <dsp:spPr>
        <a:xfrm>
          <a:off x="2889583" y="249217"/>
          <a:ext cx="656594" cy="6565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D1A3F4-494B-4860-AD81-86F26662C1BB}">
      <dsp:nvSpPr>
        <dsp:cNvPr id="0" name=""/>
        <dsp:cNvSpPr/>
      </dsp:nvSpPr>
      <dsp:spPr>
        <a:xfrm>
          <a:off x="2279889" y="1506127"/>
          <a:ext cx="18759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Track NPS &amp; satisfaction quarterly</a:t>
          </a:r>
        </a:p>
      </dsp:txBody>
      <dsp:txXfrm>
        <a:off x="2279889" y="1506127"/>
        <a:ext cx="1875983" cy="720000"/>
      </dsp:txXfrm>
    </dsp:sp>
    <dsp:sp modelId="{4D8B511E-E8CC-4D28-A7C8-54605F9F51C1}">
      <dsp:nvSpPr>
        <dsp:cNvPr id="0" name=""/>
        <dsp:cNvSpPr/>
      </dsp:nvSpPr>
      <dsp:spPr>
        <a:xfrm>
          <a:off x="441424" y="2695122"/>
          <a:ext cx="1144350" cy="11443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66DDB0-120C-43FF-A5A1-78507EB30E80}">
      <dsp:nvSpPr>
        <dsp:cNvPr id="0" name=""/>
        <dsp:cNvSpPr/>
      </dsp:nvSpPr>
      <dsp:spPr>
        <a:xfrm>
          <a:off x="685302" y="2939000"/>
          <a:ext cx="656594" cy="6565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A599E2-D024-456B-B1D1-BFC8051EFB29}">
      <dsp:nvSpPr>
        <dsp:cNvPr id="0" name=""/>
        <dsp:cNvSpPr/>
      </dsp:nvSpPr>
      <dsp:spPr>
        <a:xfrm>
          <a:off x="75608" y="4195909"/>
          <a:ext cx="18759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Estimated churn reduction: 15–20%</a:t>
          </a:r>
        </a:p>
      </dsp:txBody>
      <dsp:txXfrm>
        <a:off x="75608" y="4195909"/>
        <a:ext cx="1875983" cy="720000"/>
      </dsp:txXfrm>
    </dsp:sp>
    <dsp:sp modelId="{5F8F4945-2326-4972-B0E3-F93533A86795}">
      <dsp:nvSpPr>
        <dsp:cNvPr id="0" name=""/>
        <dsp:cNvSpPr/>
      </dsp:nvSpPr>
      <dsp:spPr>
        <a:xfrm>
          <a:off x="2645705" y="2695122"/>
          <a:ext cx="1144350" cy="11443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D526B3-41E0-4DBF-A602-4D795ECC581B}">
      <dsp:nvSpPr>
        <dsp:cNvPr id="0" name=""/>
        <dsp:cNvSpPr/>
      </dsp:nvSpPr>
      <dsp:spPr>
        <a:xfrm>
          <a:off x="2889583" y="2939000"/>
          <a:ext cx="656594" cy="65659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7A452A-A3AD-49B4-AAFD-0719B3EDE7C6}">
      <dsp:nvSpPr>
        <dsp:cNvPr id="0" name=""/>
        <dsp:cNvSpPr/>
      </dsp:nvSpPr>
      <dsp:spPr>
        <a:xfrm>
          <a:off x="2279889" y="4195909"/>
          <a:ext cx="18759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Higher retention = significant revenue gain</a:t>
          </a:r>
        </a:p>
      </dsp:txBody>
      <dsp:txXfrm>
        <a:off x="2279889" y="4195909"/>
        <a:ext cx="1875983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259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021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8752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693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171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202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514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400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480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402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790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9935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5" r:id="rId1"/>
    <p:sldLayoutId id="2147484186" r:id="rId2"/>
    <p:sldLayoutId id="2147484187" r:id="rId3"/>
    <p:sldLayoutId id="2147484188" r:id="rId4"/>
    <p:sldLayoutId id="2147484189" r:id="rId5"/>
    <p:sldLayoutId id="2147484190" r:id="rId6"/>
    <p:sldLayoutId id="2147484191" r:id="rId7"/>
    <p:sldLayoutId id="2147484192" r:id="rId8"/>
    <p:sldLayoutId id="2147484193" r:id="rId9"/>
    <p:sldLayoutId id="2147484194" r:id="rId10"/>
    <p:sldLayoutId id="2147484195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6013704" cy="1499616"/>
          </a:xfrm>
        </p:spPr>
        <p:txBody>
          <a:bodyPr>
            <a:normAutofit/>
          </a:bodyPr>
          <a:lstStyle/>
          <a:p>
            <a:r>
              <a:rPr lang="en-US"/>
              <a:t>Customer Churn Analysis – Insights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6013703" cy="4023360"/>
          </a:xfrm>
        </p:spPr>
        <p:txBody>
          <a:bodyPr>
            <a:normAutofit/>
          </a:bodyPr>
          <a:lstStyle/>
          <a:p>
            <a:endParaRPr lang="en-US"/>
          </a:p>
          <a:p>
            <a:r>
              <a:rPr lang="en-US"/>
              <a:t>• Analysis based on 6,418 customers and 32 attributes</a:t>
            </a:r>
          </a:p>
          <a:p>
            <a:r>
              <a:rPr lang="en-US"/>
              <a:t>• Cleaned, imputed, and validated dataset</a:t>
            </a:r>
          </a:p>
          <a:p>
            <a:r>
              <a:rPr lang="en-US"/>
              <a:t>• Key themes: churn behavior, revenue impact, retention strategies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325601"/>
            <a:ext cx="171519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4394539"/>
            <a:ext cx="171519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4550113" cy="1499616"/>
          </a:xfrm>
        </p:spPr>
        <p:txBody>
          <a:bodyPr>
            <a:normAutofit/>
          </a:bodyPr>
          <a:lstStyle/>
          <a:p>
            <a:r>
              <a:t>Dataset Summary &amp; Data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4550113" cy="4023360"/>
          </a:xfrm>
        </p:spPr>
        <p:txBody>
          <a:bodyPr>
            <a:normAutofit/>
          </a:bodyPr>
          <a:lstStyle/>
          <a:p>
            <a:endParaRPr/>
          </a:p>
          <a:p>
            <a:r>
              <a:t>• Service fields missing only when Internet_Service = No</a:t>
            </a:r>
          </a:p>
          <a:p>
            <a:r>
              <a:t>• Imputed as 'No Service' to avoid bias</a:t>
            </a:r>
          </a:p>
          <a:p>
            <a:r>
              <a:t>• Dataset ready for analysis with no critical gaps</a:t>
            </a: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58E94733-A76C-54F4-D531-5A0E81233F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372" r="28086"/>
          <a:stretch>
            <a:fillRect/>
          </a:stretch>
        </p:blipFill>
        <p:spPr>
          <a:xfrm>
            <a:off x="5664199" y="10"/>
            <a:ext cx="3479800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IN" sz="3700">
                <a:solidFill>
                  <a:srgbClr val="FFFFFF"/>
                </a:solidFill>
              </a:rPr>
              <a:t>Customer Demographics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460A73-01E1-D926-1292-954CBB8D61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4480294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Service Adoption Patterns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D5FCF5-47E1-4D61-1E5C-40F473BF39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2612585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Churn Overview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endParaRPr/>
          </a:p>
          <a:p>
            <a:r>
              <a:t>• Overall churn rate ≈ 27% (1,732 customers)</a:t>
            </a:r>
          </a:p>
          <a:p>
            <a:r>
              <a:t>• Top churn reasons:</a:t>
            </a:r>
          </a:p>
          <a:p>
            <a:r>
              <a:t>   – Competitor offerings (~43%)</a:t>
            </a:r>
          </a:p>
          <a:p>
            <a:r>
              <a:t>   – Product/network dissatisfaction (~35%)</a:t>
            </a:r>
          </a:p>
          <a:p>
            <a:r>
              <a:t>   – Price sensitivity (~11%)</a:t>
            </a:r>
          </a:p>
          <a:p>
            <a:r>
              <a:t>   – Other (~11%)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t>KPI Breakdown by Segments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5394FB-138A-EBDD-16B2-57F4CF043A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9880870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6013704" cy="1499616"/>
          </a:xfrm>
        </p:spPr>
        <p:txBody>
          <a:bodyPr>
            <a:normAutofit/>
          </a:bodyPr>
          <a:lstStyle/>
          <a:p>
            <a:r>
              <a:t>Key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6013703" cy="4023360"/>
          </a:xfrm>
        </p:spPr>
        <p:txBody>
          <a:bodyPr>
            <a:normAutofit/>
          </a:bodyPr>
          <a:lstStyle/>
          <a:p>
            <a:endParaRPr/>
          </a:p>
          <a:p>
            <a:r>
              <a:t>• Incentivize long-term contracts with perks &amp; bundles</a:t>
            </a:r>
          </a:p>
          <a:p>
            <a:r>
              <a:t>• Reduce billing friction for electronic check users</a:t>
            </a:r>
          </a:p>
          <a:p>
            <a:r>
              <a:t>• Upsell Fiber users &amp; cross-sell add-ons</a:t>
            </a:r>
          </a:p>
          <a:p>
            <a:r>
              <a:t>• Improve network reliability &amp; pricing competitiveness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325601"/>
            <a:ext cx="171519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4394539"/>
            <a:ext cx="171519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Next Steps &amp; Conclusion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C8E03F89-E250-7B4F-08A8-B27874C6E0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0849057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9</TotalTime>
  <Words>281</Words>
  <Application>Microsoft Office PowerPoint</Application>
  <PresentationFormat>On-screen Show (4:3)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Tw Cen MT</vt:lpstr>
      <vt:lpstr>Tw Cen MT Condensed</vt:lpstr>
      <vt:lpstr>Wingdings 3</vt:lpstr>
      <vt:lpstr>Integral</vt:lpstr>
      <vt:lpstr>Customer Churn Analysis – Insights Overview</vt:lpstr>
      <vt:lpstr>Dataset Summary &amp; Data Quality</vt:lpstr>
      <vt:lpstr>Customer Demographics</vt:lpstr>
      <vt:lpstr>Service Adoption Patterns</vt:lpstr>
      <vt:lpstr>Churn Overview</vt:lpstr>
      <vt:lpstr>KPI Breakdown by Segments</vt:lpstr>
      <vt:lpstr>Key Recommendations</vt:lpstr>
      <vt:lpstr>Next Steps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Nebil Divay</dc:creator>
  <cp:keywords/>
  <dc:description>generated using python-pptx</dc:description>
  <cp:lastModifiedBy>Nebil Divay</cp:lastModifiedBy>
  <cp:revision>2</cp:revision>
  <dcterms:created xsi:type="dcterms:W3CDTF">2013-01-27T09:14:16Z</dcterms:created>
  <dcterms:modified xsi:type="dcterms:W3CDTF">2025-11-16T04:08:34Z</dcterms:modified>
  <cp:category/>
</cp:coreProperties>
</file>